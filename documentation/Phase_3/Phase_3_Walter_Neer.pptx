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9" r:id="rId7"/>
    <p:sldId id="262" r:id="rId8"/>
    <p:sldId id="272" r:id="rId9"/>
    <p:sldId id="273" r:id="rId10"/>
    <p:sldId id="274" r:id="rId11"/>
    <p:sldId id="275" r:id="rId12"/>
    <p:sldId id="276" r:id="rId13"/>
    <p:sldId id="264" r:id="rId14"/>
    <p:sldId id="271" r:id="rId15"/>
    <p:sldId id="265" r:id="rId16"/>
    <p:sldId id="267" r:id="rId17"/>
    <p:sldId id="277" r:id="rId18"/>
    <p:sldId id="278" r:id="rId19"/>
    <p:sldId id="270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A4628-E132-BCA3-7028-BD1421D66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1D27DBC-2F80-DCEC-4B6D-BC290A0C8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371B56-3CB7-03E2-9A79-B6E7D31C7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C5CF-4682-4252-9924-3C5343FDD92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BE055E-2A3C-B033-7CFF-841A92ECD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EBE071-A91F-DC2C-74EA-E32FA51E3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B7C2-DB30-4532-AC1D-FBA45F88206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14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C6083A-52C6-A975-42E3-18FD0408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3E159E-E256-E45F-4D6D-DC6386559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E80DC0-9B79-93B2-018A-53F564048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C5CF-4682-4252-9924-3C5343FDD92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99F8F7-8124-97FD-5EC4-FE22AF27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D0C277-47C0-BA76-7A1E-9976F70A7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B7C2-DB30-4532-AC1D-FBA45F88206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995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D2C79-6961-F0A7-D5BA-D2BD6E4D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B3B8B0-8D07-C534-693A-5A995E424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7E69E4-9D97-69DF-DF6A-9843FADDA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C5CF-4682-4252-9924-3C5343FDD92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2075FA-91E5-593B-712B-B4E58FC9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332648-7167-1F77-C26D-16237FDB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B7C2-DB30-4532-AC1D-FBA45F88206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57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624920-3F87-EAED-7B77-29545A119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CCAF3E-9029-1888-CCAE-79D293DAE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EBD5F8-8779-9006-9903-DE1B95018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EE6FF3-A9FF-20A4-753E-B9D5F13DE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C5CF-4682-4252-9924-3C5343FDD92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7FCF61-DDC5-095F-90A5-F02BC135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5341E6-48C6-944A-A530-FCEAD368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B7C2-DB30-4532-AC1D-FBA45F88206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98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5DBFD8-E7AB-6831-5F39-9BF8AB210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D091EE-0554-A07C-08EF-AB9A42C72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3A0D56-3097-3025-118F-5F3DAE895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0184A6-10CB-BD9D-FB32-DEEF450C6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3B62570-AA78-AF94-E946-B34C9847D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224E70F-8759-70DF-F939-18D4BBDBC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C5CF-4682-4252-9924-3C5343FDD92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17431F9-588D-A5A1-FC3F-F95967EAD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19A4F0F-5665-8FBF-2E26-0308E930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B7C2-DB30-4532-AC1D-FBA45F88206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02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F81041-A13D-D982-6E2E-7A1A0A882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1CE785-4B4D-3F47-0676-396F2798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C5CF-4682-4252-9924-3C5343FDD92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CB20C4-70FE-3B42-3179-56A82A7E9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AAF6EFA-8E81-5350-FAE5-99BAE80E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B7C2-DB30-4532-AC1D-FBA45F88206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157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10AEBC-5E89-5D6E-A3A6-CACE622F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C5CF-4682-4252-9924-3C5343FDD92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B47547-AE67-B1C7-B945-50D698F8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492FB9-C9EF-AB67-FFD1-D520087E7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B7C2-DB30-4532-AC1D-FBA45F88206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19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B25D1E-ACCC-AF01-8610-3F4DBF01C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6A63AB-7932-CB3A-4273-0D07F29C5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602B64-AC91-0EFC-4B4E-026522D69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A7FDDB-F70C-E51A-292F-760E8B76C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C5CF-4682-4252-9924-3C5343FDD92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576142-95E5-C8EF-0FD2-16B0B6E4C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BF3BED-58B4-D568-6CD4-E9DF97E9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B7C2-DB30-4532-AC1D-FBA45F88206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66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DA169E-F8D5-5DE0-28A7-48CB64621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4524AA3-CA70-BD1B-6B6B-A03BC04C1F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2A3DC24-0475-31F4-C79A-1F7A9EF9A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6C7290-367C-1A9C-68DA-68B7F179C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C5CF-4682-4252-9924-3C5343FDD92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4192B6-9E2A-5A60-E377-0D9762508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22C709-C886-DF2C-E25C-FD1DD445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B7C2-DB30-4532-AC1D-FBA45F88206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62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17B79-2D32-745A-0FBC-8F0461EB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C3C9AD0-DF95-D500-07F8-7487CBBF4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C9C740-AD47-2E9A-6DFE-F34B1950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C5CF-4682-4252-9924-3C5343FDD92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CB8950-01EC-A086-2E98-52C4C186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88306E-3F29-ACA4-0570-06434EA8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B7C2-DB30-4532-AC1D-FBA45F88206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896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EA79236-4096-8BDC-D434-46E49DF44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B2E648D-A2FE-33C0-436A-809CF680F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4EE5B3-29FC-9E90-21A4-19D97E19C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C5CF-4682-4252-9924-3C5343FDD92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39E502-41D9-9064-B186-F614791A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7840B7-6AC4-5742-577A-3318F8EC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B7C2-DB30-4532-AC1D-FBA45F88206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724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0274AEF-0F5E-7478-6B7D-6B8A7002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EDCC7F-BAE2-9048-DAB5-2E4BD833E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BF3292-6245-03CC-9F8A-870A30544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08C5CF-4682-4252-9924-3C5343FDD926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4674C7-86FC-2D19-C5DA-E20C71E92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957E73-D67D-3F13-4347-A2E235F55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EB7C2-DB30-4532-AC1D-FBA45F88206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53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108B356-1828-4BF1-1169-1162497452DD}"/>
              </a:ext>
            </a:extLst>
          </p:cNvPr>
          <p:cNvSpPr/>
          <p:nvPr/>
        </p:nvSpPr>
        <p:spPr>
          <a:xfrm>
            <a:off x="3632200" y="806081"/>
            <a:ext cx="4724400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516112E-9A4F-E361-64B7-67ECC77230C8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01EAD6-FD3E-EFE5-D515-A431ED66F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6201" y="-323654"/>
            <a:ext cx="9144000" cy="1036637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</a:rPr>
              <a:t>Phase 3</a:t>
            </a:r>
            <a:endParaRPr lang="en-GB" sz="3000" b="1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1F39FE-9643-CE8B-3AE1-7BF4CF80F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2200" y="954910"/>
            <a:ext cx="4724400" cy="372533"/>
          </a:xfrm>
        </p:spPr>
        <p:txBody>
          <a:bodyPr>
            <a:normAutofit fontScale="92500" lnSpcReduction="10000"/>
          </a:bodyPr>
          <a:lstStyle/>
          <a:p>
            <a:r>
              <a: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Anwendungsprojekt Informatik</a:t>
            </a:r>
            <a:endParaRPr lang="en-GB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 descr="Ein Bild, das Elektronik, Kabel, Elektrische Leitungen, Schaltung enthält.&#10;&#10;KI-generierte Inhalte können fehlerhaft sein.">
            <a:extLst>
              <a:ext uri="{FF2B5EF4-FFF2-40B4-BE49-F238E27FC236}">
                <a16:creationId xmlns:a16="http://schemas.microsoft.com/office/drawing/2014/main" id="{552065D6-FF8F-545A-C932-BBE4B0B04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933" y="1472073"/>
            <a:ext cx="3945467" cy="5240073"/>
          </a:xfrm>
          <a:prstGeom prst="rect">
            <a:avLst/>
          </a:prstGeom>
        </p:spPr>
      </p:pic>
      <p:pic>
        <p:nvPicPr>
          <p:cNvPr id="9" name="Grafik 8" descr="Ein Bild, das Elektronik, Kabel, Elektrische Leitungen, Elektronisches Gerät enthält.&#10;&#10;KI-generierte Inhalte können fehlerhaft sein.">
            <a:extLst>
              <a:ext uri="{FF2B5EF4-FFF2-40B4-BE49-F238E27FC236}">
                <a16:creationId xmlns:a16="http://schemas.microsoft.com/office/drawing/2014/main" id="{6013AEF4-9056-6504-FC96-63DFFD7F6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472073"/>
            <a:ext cx="3945467" cy="524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1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1B8A2-5A23-4ADD-BE3B-E49D3E4DB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77DDEA86-0931-0FBC-9389-6390B8023383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701180D-A701-68AE-52F1-919AF23E1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Struktur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44B85DC-9F3E-0FF2-9AAD-F768D4FEBBEB}"/>
              </a:ext>
            </a:extLst>
          </p:cNvPr>
          <p:cNvSpPr/>
          <p:nvPr/>
        </p:nvSpPr>
        <p:spPr>
          <a:xfrm>
            <a:off x="3556000" y="1452050"/>
            <a:ext cx="4749799" cy="79955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FDF40D6-3F26-192D-3BDA-B4D1691C18CB}"/>
              </a:ext>
            </a:extLst>
          </p:cNvPr>
          <p:cNvSpPr/>
          <p:nvPr/>
        </p:nvSpPr>
        <p:spPr>
          <a:xfrm>
            <a:off x="3556000" y="2377732"/>
            <a:ext cx="4749799" cy="79955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2244C39C-BDB7-F2BE-77A0-FF6CE301F87D}"/>
              </a:ext>
            </a:extLst>
          </p:cNvPr>
          <p:cNvSpPr/>
          <p:nvPr/>
        </p:nvSpPr>
        <p:spPr>
          <a:xfrm>
            <a:off x="3556000" y="3303414"/>
            <a:ext cx="4749799" cy="79955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D74AE27-3A4E-76A5-87F5-AF420A75E17A}"/>
              </a:ext>
            </a:extLst>
          </p:cNvPr>
          <p:cNvSpPr txBox="1"/>
          <p:nvPr/>
        </p:nvSpPr>
        <p:spPr>
          <a:xfrm>
            <a:off x="3632200" y="1578175"/>
            <a:ext cx="45284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Meilenstein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943254B-A114-BD51-7290-2A80C4301123}"/>
              </a:ext>
            </a:extLst>
          </p:cNvPr>
          <p:cNvSpPr txBox="1"/>
          <p:nvPr/>
        </p:nvSpPr>
        <p:spPr>
          <a:xfrm>
            <a:off x="3632200" y="2503857"/>
            <a:ext cx="45284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Hardware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287EFF1-7F2C-E32F-51AE-EF3437AA3075}"/>
              </a:ext>
            </a:extLst>
          </p:cNvPr>
          <p:cNvSpPr txBox="1"/>
          <p:nvPr/>
        </p:nvSpPr>
        <p:spPr>
          <a:xfrm>
            <a:off x="3632200" y="3460317"/>
            <a:ext cx="45284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Docker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744A41A9-F078-219C-F682-E03F314D084D}"/>
              </a:ext>
            </a:extLst>
          </p:cNvPr>
          <p:cNvSpPr/>
          <p:nvPr/>
        </p:nvSpPr>
        <p:spPr>
          <a:xfrm>
            <a:off x="3556000" y="4229096"/>
            <a:ext cx="4749799" cy="79955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78D2772-EC4A-083B-CBE5-A47021C81B3F}"/>
              </a:ext>
            </a:extLst>
          </p:cNvPr>
          <p:cNvSpPr txBox="1"/>
          <p:nvPr/>
        </p:nvSpPr>
        <p:spPr>
          <a:xfrm>
            <a:off x="3632200" y="4389989"/>
            <a:ext cx="45284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CA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AF580DE1-C84F-13E4-F845-658A7F05868B}"/>
              </a:ext>
            </a:extLst>
          </p:cNvPr>
          <p:cNvSpPr/>
          <p:nvPr/>
        </p:nvSpPr>
        <p:spPr>
          <a:xfrm>
            <a:off x="3556000" y="5154778"/>
            <a:ext cx="4749799" cy="79955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5ECF501-DB09-73EB-5DF4-411613097A8F}"/>
              </a:ext>
            </a:extLst>
          </p:cNvPr>
          <p:cNvSpPr txBox="1"/>
          <p:nvPr/>
        </p:nvSpPr>
        <p:spPr>
          <a:xfrm>
            <a:off x="3632200" y="5315671"/>
            <a:ext cx="45284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MQTT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599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190A-EDF1-6030-C60C-72FC3C0E1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7DDC598-DF66-0AB1-0431-77AD97782E12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C32AC69-7412-1DA1-E3B7-F9150E861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Meilenstein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064D3231-4416-08EC-E771-2C9D9C9A6638}"/>
              </a:ext>
            </a:extLst>
          </p:cNvPr>
          <p:cNvSpPr/>
          <p:nvPr/>
        </p:nvSpPr>
        <p:spPr>
          <a:xfrm>
            <a:off x="2053166" y="1066798"/>
            <a:ext cx="8085667" cy="7450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1CAC180-109D-B8CB-4BB2-33BF87849B29}"/>
              </a:ext>
            </a:extLst>
          </p:cNvPr>
          <p:cNvSpPr txBox="1"/>
          <p:nvPr/>
        </p:nvSpPr>
        <p:spPr>
          <a:xfrm>
            <a:off x="2205566" y="1193109"/>
            <a:ext cx="77808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Sichere Übertragung der Sensordaten an MQTT</a:t>
            </a:r>
            <a:endParaRPr lang="en-GB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4D270AA0-B5EE-76DC-6A54-7AE05FB38A55}"/>
              </a:ext>
            </a:extLst>
          </p:cNvPr>
          <p:cNvSpPr/>
          <p:nvPr/>
        </p:nvSpPr>
        <p:spPr>
          <a:xfrm>
            <a:off x="3992033" y="3198545"/>
            <a:ext cx="4102100" cy="5902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52DA766-2605-C0A0-6DF8-B8DE5EA3EDE3}"/>
              </a:ext>
            </a:extLst>
          </p:cNvPr>
          <p:cNvSpPr txBox="1"/>
          <p:nvPr/>
        </p:nvSpPr>
        <p:spPr>
          <a:xfrm>
            <a:off x="4233333" y="3278244"/>
            <a:ext cx="37253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200" b="1" dirty="0">
                <a:latin typeface="Arial" panose="020B0604020202020204" pitchFamily="34" charset="0"/>
                <a:cs typeface="Arial" panose="020B0604020202020204" pitchFamily="34" charset="0"/>
              </a:rPr>
              <a:t>Sicherer Kanal asynchron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CDC89166-908E-4B37-C1C9-E5FD8993E02C}"/>
              </a:ext>
            </a:extLst>
          </p:cNvPr>
          <p:cNvSpPr/>
          <p:nvPr/>
        </p:nvSpPr>
        <p:spPr>
          <a:xfrm>
            <a:off x="880533" y="3198546"/>
            <a:ext cx="2298698" cy="5902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049EA24-5D18-9616-7068-A2734A76055F}"/>
              </a:ext>
            </a:extLst>
          </p:cNvPr>
          <p:cNvSpPr txBox="1"/>
          <p:nvPr/>
        </p:nvSpPr>
        <p:spPr>
          <a:xfrm>
            <a:off x="1051983" y="3278244"/>
            <a:ext cx="187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200" b="1" dirty="0">
                <a:latin typeface="Arial" panose="020B0604020202020204" pitchFamily="34" charset="0"/>
                <a:cs typeface="Arial" panose="020B0604020202020204" pitchFamily="34" charset="0"/>
              </a:rPr>
              <a:t>Sensordaten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7A9F901E-6843-1C75-D50C-E07830838684}"/>
              </a:ext>
            </a:extLst>
          </p:cNvPr>
          <p:cNvSpPr/>
          <p:nvPr/>
        </p:nvSpPr>
        <p:spPr>
          <a:xfrm>
            <a:off x="8906935" y="3198546"/>
            <a:ext cx="2404533" cy="5902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52C15A3-3DA5-5145-B69F-08A60444BF13}"/>
              </a:ext>
            </a:extLst>
          </p:cNvPr>
          <p:cNvSpPr txBox="1"/>
          <p:nvPr/>
        </p:nvSpPr>
        <p:spPr>
          <a:xfrm>
            <a:off x="8936566" y="3278244"/>
            <a:ext cx="24045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200" b="1" dirty="0">
                <a:latin typeface="Arial" panose="020B0604020202020204" pitchFamily="34" charset="0"/>
                <a:cs typeface="Arial" panose="020B0604020202020204" pitchFamily="34" charset="0"/>
              </a:rPr>
              <a:t>Message-Broker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60AEE534-BCB6-3967-0CB5-86B505F949D4}"/>
              </a:ext>
            </a:extLst>
          </p:cNvPr>
          <p:cNvCxnSpPr>
            <a:cxnSpLocks/>
            <a:stCxn id="12" idx="3"/>
            <a:endCxn id="2" idx="1"/>
          </p:cNvCxnSpPr>
          <p:nvPr/>
        </p:nvCxnSpPr>
        <p:spPr>
          <a:xfrm flipV="1">
            <a:off x="3179231" y="3493688"/>
            <a:ext cx="812802" cy="0"/>
          </a:xfrm>
          <a:prstGeom prst="straightConnector1">
            <a:avLst/>
          </a:prstGeom>
          <a:ln w="31750" cmpd="sng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218E763-A754-7B3C-7568-791DCDAFB79C}"/>
              </a:ext>
            </a:extLst>
          </p:cNvPr>
          <p:cNvCxnSpPr>
            <a:cxnSpLocks/>
          </p:cNvCxnSpPr>
          <p:nvPr/>
        </p:nvCxnSpPr>
        <p:spPr>
          <a:xfrm flipV="1">
            <a:off x="8094133" y="3493687"/>
            <a:ext cx="812802" cy="0"/>
          </a:xfrm>
          <a:prstGeom prst="straightConnector1">
            <a:avLst/>
          </a:prstGeom>
          <a:ln w="31750" cmpd="sng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35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7A72F-7517-539C-4769-0A58E7A30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DAC8203-75E4-3A86-0D94-9157C3706AD1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BCCCFE4-CEF8-B29C-EAEC-896B67DC8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Meilenstein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0CF804A1-9DCB-2FC2-6B06-D4BA6EE7786B}"/>
              </a:ext>
            </a:extLst>
          </p:cNvPr>
          <p:cNvSpPr/>
          <p:nvPr/>
        </p:nvSpPr>
        <p:spPr>
          <a:xfrm>
            <a:off x="2053166" y="1066798"/>
            <a:ext cx="8085667" cy="7450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3CCAEFF-81EF-BCEF-EA73-3B7FC472E8AD}"/>
              </a:ext>
            </a:extLst>
          </p:cNvPr>
          <p:cNvSpPr txBox="1"/>
          <p:nvPr/>
        </p:nvSpPr>
        <p:spPr>
          <a:xfrm>
            <a:off x="4138083" y="1190306"/>
            <a:ext cx="364490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Benötigte Teilschritte</a:t>
            </a:r>
            <a:endParaRPr lang="en-GB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A3EC0308-7EF7-F43B-D589-2A5D258854F5}"/>
              </a:ext>
            </a:extLst>
          </p:cNvPr>
          <p:cNvSpPr/>
          <p:nvPr/>
        </p:nvSpPr>
        <p:spPr>
          <a:xfrm>
            <a:off x="2053166" y="2163758"/>
            <a:ext cx="3738030" cy="35039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3AB7108-834A-3EF8-6D49-337F861BF3E2}"/>
              </a:ext>
            </a:extLst>
          </p:cNvPr>
          <p:cNvSpPr txBox="1"/>
          <p:nvPr/>
        </p:nvSpPr>
        <p:spPr>
          <a:xfrm>
            <a:off x="2497668" y="2491537"/>
            <a:ext cx="279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200" b="1" dirty="0">
                <a:latin typeface="Arial" panose="020B0604020202020204" pitchFamily="34" charset="0"/>
                <a:cs typeface="Arial" panose="020B0604020202020204" pitchFamily="34" charset="0"/>
              </a:rPr>
              <a:t>Backend-Server</a:t>
            </a:r>
          </a:p>
          <a:p>
            <a:pPr algn="ctr"/>
            <a:endParaRPr lang="de-DE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Docker + Docker-Bridge</a:t>
            </a:r>
          </a:p>
          <a:p>
            <a:pPr marL="285750" indent="-285750">
              <a:buFontTx/>
              <a:buChar char="-"/>
            </a:pP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Message-Broker als Docker Container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447FAFC1-5673-E005-C1E3-1E05C51EAB80}"/>
              </a:ext>
            </a:extLst>
          </p:cNvPr>
          <p:cNvSpPr/>
          <p:nvPr/>
        </p:nvSpPr>
        <p:spPr>
          <a:xfrm>
            <a:off x="6400803" y="2163758"/>
            <a:ext cx="3738031" cy="35039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F856260-D92A-5748-A81A-E1AF10491B15}"/>
              </a:ext>
            </a:extLst>
          </p:cNvPr>
          <p:cNvSpPr txBox="1"/>
          <p:nvPr/>
        </p:nvSpPr>
        <p:spPr>
          <a:xfrm>
            <a:off x="6849533" y="2413222"/>
            <a:ext cx="2844799" cy="311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de-DE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Certificate</a:t>
            </a:r>
            <a:r>
              <a:rPr lang="de-DE" sz="2200" b="1" dirty="0">
                <a:latin typeface="Arial" panose="020B0604020202020204" pitchFamily="34" charset="0"/>
                <a:cs typeface="Arial" panose="020B0604020202020204" pitchFamily="34" charset="0"/>
              </a:rPr>
              <a:t> Authority (CA)</a:t>
            </a:r>
          </a:p>
          <a:p>
            <a:pPr marL="285750" indent="-285750">
              <a:lnSpc>
                <a:spcPts val="2000"/>
              </a:lnSpc>
              <a:buFontTx/>
              <a:buChar char="-"/>
            </a:pP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ts val="2000"/>
              </a:lnSpc>
              <a:buFontTx/>
              <a:buChar char="-"/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CA auf Backend-Server</a:t>
            </a:r>
          </a:p>
          <a:p>
            <a:pPr marL="285750" indent="-285750">
              <a:buFontTx/>
              <a:buChar char="-"/>
            </a:pP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Root-Zertifikat für CA</a:t>
            </a:r>
          </a:p>
          <a:p>
            <a:pPr marL="285750" indent="-285750">
              <a:buFontTx/>
              <a:buChar char="-"/>
            </a:pP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Server-Zertifikat für MQTT-Broker</a:t>
            </a:r>
          </a:p>
          <a:p>
            <a:pPr marL="285750" indent="-285750">
              <a:buFontTx/>
              <a:buChar char="-"/>
            </a:pPr>
            <a:endParaRPr lang="de-DE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de-DE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de-DE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63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3916-E070-AEB4-2B01-45D528760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6C7F89C-AC51-1A4A-D240-3465E0658A48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A98E976-F5FB-C167-74CD-0544DA393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Meilenstein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4473B129-CFED-9840-3EF9-C265517A640B}"/>
              </a:ext>
            </a:extLst>
          </p:cNvPr>
          <p:cNvSpPr/>
          <p:nvPr/>
        </p:nvSpPr>
        <p:spPr>
          <a:xfrm>
            <a:off x="2053166" y="1066798"/>
            <a:ext cx="8085667" cy="7450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10DDE10-3A47-81C1-1BF9-0EA14268C48F}"/>
              </a:ext>
            </a:extLst>
          </p:cNvPr>
          <p:cNvSpPr txBox="1"/>
          <p:nvPr/>
        </p:nvSpPr>
        <p:spPr>
          <a:xfrm>
            <a:off x="4138083" y="1190306"/>
            <a:ext cx="364490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Benötigte Teilschritte</a:t>
            </a:r>
            <a:endParaRPr lang="en-GB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F0F498B0-E5B8-57EC-BDDE-91D17BB999A3}"/>
              </a:ext>
            </a:extLst>
          </p:cNvPr>
          <p:cNvSpPr/>
          <p:nvPr/>
        </p:nvSpPr>
        <p:spPr>
          <a:xfrm>
            <a:off x="2053166" y="2163758"/>
            <a:ext cx="3738030" cy="35039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FB1D4A2-5907-E9D6-10D0-B2E504BBA9FC}"/>
              </a:ext>
            </a:extLst>
          </p:cNvPr>
          <p:cNvSpPr txBox="1"/>
          <p:nvPr/>
        </p:nvSpPr>
        <p:spPr>
          <a:xfrm>
            <a:off x="2497668" y="2413222"/>
            <a:ext cx="2794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de-DE" sz="2200" b="1" dirty="0">
                <a:latin typeface="Arial" panose="020B0604020202020204" pitchFamily="34" charset="0"/>
                <a:cs typeface="Arial" panose="020B0604020202020204" pitchFamily="34" charset="0"/>
              </a:rPr>
              <a:t>Mikro Python Programm</a:t>
            </a:r>
          </a:p>
          <a:p>
            <a:pPr algn="ctr">
              <a:lnSpc>
                <a:spcPts val="2000"/>
              </a:lnSpc>
            </a:pP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Alle 60 Sekunden DHT22 auslesen</a:t>
            </a:r>
          </a:p>
          <a:p>
            <a:pPr marL="285750" indent="-285750">
              <a:buFontTx/>
              <a:buChar char="-"/>
            </a:pP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Topic ‘</a:t>
            </a: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</a:p>
          <a:p>
            <a:pPr marL="285750" indent="-285750">
              <a:buFontTx/>
              <a:buChar char="-"/>
            </a:pP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Daten als JSON-String</a:t>
            </a:r>
          </a:p>
          <a:p>
            <a:pPr marL="285750" indent="-285750">
              <a:buFontTx/>
              <a:buChar char="-"/>
            </a:pP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Authentifizierung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3546AE21-D549-80BA-307B-3FD24CE4CA31}"/>
              </a:ext>
            </a:extLst>
          </p:cNvPr>
          <p:cNvSpPr/>
          <p:nvPr/>
        </p:nvSpPr>
        <p:spPr>
          <a:xfrm>
            <a:off x="6400803" y="2163758"/>
            <a:ext cx="3738031" cy="35039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09A471D-5BF7-F87A-A4AC-1A13C0431503}"/>
              </a:ext>
            </a:extLst>
          </p:cNvPr>
          <p:cNvSpPr txBox="1"/>
          <p:nvPr/>
        </p:nvSpPr>
        <p:spPr>
          <a:xfrm>
            <a:off x="6849533" y="2671770"/>
            <a:ext cx="2844799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de-DE" sz="2200" b="1" dirty="0">
                <a:latin typeface="Arial" panose="020B0604020202020204" pitchFamily="34" charset="0"/>
                <a:cs typeface="Arial" panose="020B0604020202020204" pitchFamily="34" charset="0"/>
              </a:rPr>
              <a:t>Test der Integration</a:t>
            </a:r>
          </a:p>
          <a:p>
            <a:pPr algn="ctr">
              <a:lnSpc>
                <a:spcPts val="2000"/>
              </a:lnSpc>
            </a:pPr>
            <a:endParaRPr lang="de-D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MQTT-Client verwenden</a:t>
            </a:r>
          </a:p>
          <a:p>
            <a:pPr marL="285750" indent="-285750">
              <a:buFontTx/>
              <a:buChar char="-"/>
            </a:pP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mosquitto_sub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mosquitto_pub</a:t>
            </a: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de-DE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Korrektheit prüfen</a:t>
            </a:r>
          </a:p>
          <a:p>
            <a:pPr marL="285750" indent="-285750">
              <a:buFontTx/>
              <a:buChar char="-"/>
            </a:pPr>
            <a:endParaRPr lang="de-DE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de-DE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917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D0142-B208-E94A-41F2-4EECC3E5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A8C043C-C913-E66A-E994-1D98289F6C70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11D6676-3E89-3718-A92A-08D4DD3A6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Aufgabenteilung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DA110EA-CA65-DE34-9BDD-BC2FBA015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72" y="813899"/>
            <a:ext cx="10165055" cy="59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04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3F5D3-6F1E-41FF-6185-5B10B536C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hteck: abgerundete Ecken 80">
            <a:extLst>
              <a:ext uri="{FF2B5EF4-FFF2-40B4-BE49-F238E27FC236}">
                <a16:creationId xmlns:a16="http://schemas.microsoft.com/office/drawing/2014/main" id="{2A35DDC9-83C5-98C8-AAFA-94DE0521EDA5}"/>
              </a:ext>
            </a:extLst>
          </p:cNvPr>
          <p:cNvSpPr/>
          <p:nvPr/>
        </p:nvSpPr>
        <p:spPr>
          <a:xfrm>
            <a:off x="6549592" y="5191935"/>
            <a:ext cx="3098800" cy="109429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6A6F6AB4-C848-6154-6B4A-F95320E2FE8F}"/>
              </a:ext>
            </a:extLst>
          </p:cNvPr>
          <p:cNvSpPr/>
          <p:nvPr/>
        </p:nvSpPr>
        <p:spPr>
          <a:xfrm>
            <a:off x="880533" y="1095917"/>
            <a:ext cx="5156199" cy="50847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7509665-8DD8-4A23-4A9B-01C1214BE2C5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164677A-70BD-6D40-9433-16E311F01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Diagramm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EB0088C5-40BD-FD8C-9351-A9E43E3933B3}"/>
              </a:ext>
            </a:extLst>
          </p:cNvPr>
          <p:cNvSpPr/>
          <p:nvPr/>
        </p:nvSpPr>
        <p:spPr>
          <a:xfrm>
            <a:off x="1159933" y="2000239"/>
            <a:ext cx="2446866" cy="174836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77FC84A-A3BB-0F3A-40AE-7094A9B21352}"/>
              </a:ext>
            </a:extLst>
          </p:cNvPr>
          <p:cNvSpPr/>
          <p:nvPr/>
        </p:nvSpPr>
        <p:spPr>
          <a:xfrm>
            <a:off x="3970868" y="2000239"/>
            <a:ext cx="1786465" cy="174836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EAC88C59-F411-112C-6039-8897CF2DAF43}"/>
              </a:ext>
            </a:extLst>
          </p:cNvPr>
          <p:cNvSpPr/>
          <p:nvPr/>
        </p:nvSpPr>
        <p:spPr>
          <a:xfrm>
            <a:off x="1159933" y="4081456"/>
            <a:ext cx="4597400" cy="174836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0856A08-2C35-AFEB-D0FF-3419A41A17A2}"/>
              </a:ext>
            </a:extLst>
          </p:cNvPr>
          <p:cNvSpPr/>
          <p:nvPr/>
        </p:nvSpPr>
        <p:spPr>
          <a:xfrm>
            <a:off x="1363133" y="3188734"/>
            <a:ext cx="2040466" cy="4466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2E826F3F-808D-4E50-2BD0-57B9A7341EAB}"/>
              </a:ext>
            </a:extLst>
          </p:cNvPr>
          <p:cNvSpPr/>
          <p:nvPr/>
        </p:nvSpPr>
        <p:spPr>
          <a:xfrm>
            <a:off x="1363133" y="2664334"/>
            <a:ext cx="2040466" cy="44661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MQTT</a:t>
            </a:r>
            <a:endParaRPr lang="en-GB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48A2EE8-7717-5930-C623-37F9968CF076}"/>
              </a:ext>
            </a:extLst>
          </p:cNvPr>
          <p:cNvSpPr txBox="1"/>
          <p:nvPr/>
        </p:nvSpPr>
        <p:spPr>
          <a:xfrm>
            <a:off x="1363133" y="2040668"/>
            <a:ext cx="203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Docker Bridge (sensor-network)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80B4698-5F89-C9FE-C663-1783D3987EA8}"/>
              </a:ext>
            </a:extLst>
          </p:cNvPr>
          <p:cNvSpPr/>
          <p:nvPr/>
        </p:nvSpPr>
        <p:spPr>
          <a:xfrm>
            <a:off x="1354667" y="5274723"/>
            <a:ext cx="2040466" cy="4466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Webserver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D0D8257-08CD-9CC6-2AAD-5F9C7CDC6443}"/>
              </a:ext>
            </a:extLst>
          </p:cNvPr>
          <p:cNvSpPr/>
          <p:nvPr/>
        </p:nvSpPr>
        <p:spPr>
          <a:xfrm>
            <a:off x="3513667" y="5274723"/>
            <a:ext cx="2040466" cy="4466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4ABA2CB6-08D3-F67D-6C6F-514FAC21C66D}"/>
              </a:ext>
            </a:extLst>
          </p:cNvPr>
          <p:cNvSpPr/>
          <p:nvPr/>
        </p:nvSpPr>
        <p:spPr>
          <a:xfrm>
            <a:off x="1354667" y="4747167"/>
            <a:ext cx="2040466" cy="4466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Reverse Proxy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70844BB-2BB0-D6C6-E949-910B24430AEB}"/>
              </a:ext>
            </a:extLst>
          </p:cNvPr>
          <p:cNvSpPr/>
          <p:nvPr/>
        </p:nvSpPr>
        <p:spPr>
          <a:xfrm>
            <a:off x="3513667" y="4732326"/>
            <a:ext cx="2040466" cy="4466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 (N &amp; Z)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FACC3A9-834C-D010-C37D-5EA71BBB5BA1}"/>
              </a:ext>
            </a:extLst>
          </p:cNvPr>
          <p:cNvSpPr txBox="1"/>
          <p:nvPr/>
        </p:nvSpPr>
        <p:spPr>
          <a:xfrm>
            <a:off x="2438399" y="4099662"/>
            <a:ext cx="2040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Docker Bridge (app-network)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10CB079-062E-3FC9-4DA4-74316919830D}"/>
              </a:ext>
            </a:extLst>
          </p:cNvPr>
          <p:cNvSpPr txBox="1"/>
          <p:nvPr/>
        </p:nvSpPr>
        <p:spPr>
          <a:xfrm>
            <a:off x="4068233" y="2163778"/>
            <a:ext cx="15917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Kernel-NAT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01F91B5-EF44-9425-8394-B92FD549B53D}"/>
              </a:ext>
            </a:extLst>
          </p:cNvPr>
          <p:cNvSpPr txBox="1"/>
          <p:nvPr/>
        </p:nvSpPr>
        <p:spPr>
          <a:xfrm>
            <a:off x="2230965" y="1157994"/>
            <a:ext cx="24553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Backend Server (Raspberry Pi 4 B)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F87ED1E-45BA-AF73-88A2-D080A55C185E}"/>
              </a:ext>
            </a:extLst>
          </p:cNvPr>
          <p:cNvSpPr/>
          <p:nvPr/>
        </p:nvSpPr>
        <p:spPr>
          <a:xfrm>
            <a:off x="6316132" y="2225330"/>
            <a:ext cx="2103966" cy="130861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0028911-E0C6-69C2-D4F5-10FA74FDA7D3}"/>
              </a:ext>
            </a:extLst>
          </p:cNvPr>
          <p:cNvSpPr txBox="1"/>
          <p:nvPr/>
        </p:nvSpPr>
        <p:spPr>
          <a:xfrm>
            <a:off x="6316132" y="2333572"/>
            <a:ext cx="2082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WLAN-Router (Raspberry Pi 4 B) SSID: „</a:t>
            </a: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“ 192.168.4.1/24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CE8198FD-7F6C-AF18-5FD7-19F6DED41313}"/>
              </a:ext>
            </a:extLst>
          </p:cNvPr>
          <p:cNvSpPr/>
          <p:nvPr/>
        </p:nvSpPr>
        <p:spPr>
          <a:xfrm>
            <a:off x="6316132" y="4039309"/>
            <a:ext cx="2103966" cy="83448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5B6F0B08-34EA-16E0-664F-B80A086F54AB}"/>
              </a:ext>
            </a:extLst>
          </p:cNvPr>
          <p:cNvSpPr txBox="1"/>
          <p:nvPr/>
        </p:nvSpPr>
        <p:spPr>
          <a:xfrm>
            <a:off x="6337297" y="4147551"/>
            <a:ext cx="208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Mikrocontroller (Raspberry Pi Pico)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5B72D6A3-0536-EAC1-D310-F745259F1A82}"/>
              </a:ext>
            </a:extLst>
          </p:cNvPr>
          <p:cNvSpPr/>
          <p:nvPr/>
        </p:nvSpPr>
        <p:spPr>
          <a:xfrm>
            <a:off x="8966195" y="4161353"/>
            <a:ext cx="2061635" cy="5709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7A640BD-D203-FA3A-BCD4-47C30C05A57E}"/>
              </a:ext>
            </a:extLst>
          </p:cNvPr>
          <p:cNvSpPr txBox="1"/>
          <p:nvPr/>
        </p:nvSpPr>
        <p:spPr>
          <a:xfrm>
            <a:off x="8966195" y="4269595"/>
            <a:ext cx="208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Sensor DHT22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24DFABF0-F241-5634-6CB2-A255FC4938BE}"/>
              </a:ext>
            </a:extLst>
          </p:cNvPr>
          <p:cNvSpPr/>
          <p:nvPr/>
        </p:nvSpPr>
        <p:spPr>
          <a:xfrm>
            <a:off x="8966195" y="2600603"/>
            <a:ext cx="2061635" cy="570973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D59CC3E3-C9B5-B794-D475-E7571C828CDD}"/>
              </a:ext>
            </a:extLst>
          </p:cNvPr>
          <p:cNvSpPr txBox="1"/>
          <p:nvPr/>
        </p:nvSpPr>
        <p:spPr>
          <a:xfrm>
            <a:off x="8966195" y="2708845"/>
            <a:ext cx="208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LAN / Internet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6C9C1CA7-C9C6-D31F-4CE0-93298FB2E5B6}"/>
              </a:ext>
            </a:extLst>
          </p:cNvPr>
          <p:cNvCxnSpPr>
            <a:cxnSpLocks/>
            <a:stCxn id="4" idx="3"/>
            <a:endCxn id="30" idx="1"/>
          </p:cNvCxnSpPr>
          <p:nvPr/>
        </p:nvCxnSpPr>
        <p:spPr>
          <a:xfrm flipV="1">
            <a:off x="5757333" y="2872181"/>
            <a:ext cx="558799" cy="2239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0F22806-4E55-B229-9453-056978A5264C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7368115" y="3533946"/>
            <a:ext cx="0" cy="505363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E590C276-9B9D-92C5-B695-DF48631C18A0}"/>
              </a:ext>
            </a:extLst>
          </p:cNvPr>
          <p:cNvCxnSpPr>
            <a:cxnSpLocks/>
            <a:stCxn id="34" idx="1"/>
            <a:endCxn id="32" idx="3"/>
          </p:cNvCxnSpPr>
          <p:nvPr/>
        </p:nvCxnSpPr>
        <p:spPr>
          <a:xfrm flipH="1">
            <a:off x="8420097" y="4438872"/>
            <a:ext cx="546098" cy="1067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lg" len="sm"/>
            <a:tailEnd type="non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A9AE0619-D5DC-3A2A-4B69-309E66A2DD3F}"/>
              </a:ext>
            </a:extLst>
          </p:cNvPr>
          <p:cNvCxnSpPr>
            <a:cxnSpLocks/>
            <a:stCxn id="36" idx="1"/>
            <a:endCxn id="28" idx="3"/>
          </p:cNvCxnSpPr>
          <p:nvPr/>
        </p:nvCxnSpPr>
        <p:spPr>
          <a:xfrm flipH="1">
            <a:off x="8420098" y="2878122"/>
            <a:ext cx="546097" cy="1516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triangle" w="lg" len="med"/>
            <a:tailEnd type="non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7431FAFB-5D90-9BA5-95EB-FA4BAF1CF4CD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flipH="1">
            <a:off x="3606799" y="2874420"/>
            <a:ext cx="364069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lg" len="sm"/>
            <a:tailEnd type="non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B5D9E3F6-8C5E-4B77-A371-00585F33AB1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4864101" y="3748600"/>
            <a:ext cx="0" cy="33285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  <a:headEnd type="none" w="lg" len="sm"/>
            <a:tailEnd type="non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AB71E84C-4D6B-4B6B-467F-990E9FBE016A}"/>
              </a:ext>
            </a:extLst>
          </p:cNvPr>
          <p:cNvCxnSpPr>
            <a:cxnSpLocks/>
          </p:cNvCxnSpPr>
          <p:nvPr/>
        </p:nvCxnSpPr>
        <p:spPr>
          <a:xfrm>
            <a:off x="6776082" y="5721342"/>
            <a:ext cx="340778" cy="0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feld 65">
            <a:extLst>
              <a:ext uri="{FF2B5EF4-FFF2-40B4-BE49-F238E27FC236}">
                <a16:creationId xmlns:a16="http://schemas.microsoft.com/office/drawing/2014/main" id="{A43E0D5F-917D-68BF-1274-DAF8DCD3263F}"/>
              </a:ext>
            </a:extLst>
          </p:cNvPr>
          <p:cNvSpPr txBox="1"/>
          <p:nvPr/>
        </p:nvSpPr>
        <p:spPr>
          <a:xfrm>
            <a:off x="7206077" y="5552065"/>
            <a:ext cx="2149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wlan0 / TLS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21C2DB15-0970-F46F-B178-CA7C785BB4AA}"/>
              </a:ext>
            </a:extLst>
          </p:cNvPr>
          <p:cNvSpPr txBox="1"/>
          <p:nvPr/>
        </p:nvSpPr>
        <p:spPr>
          <a:xfrm>
            <a:off x="6551286" y="5233922"/>
            <a:ext cx="1309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b="1" dirty="0">
                <a:latin typeface="Arial" panose="020B0604020202020204" pitchFamily="34" charset="0"/>
                <a:cs typeface="Arial" panose="020B0604020202020204" pitchFamily="34" charset="0"/>
              </a:rPr>
              <a:t>Legende:</a:t>
            </a:r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705A2185-53FF-F791-DF30-F19FD3EF17BA}"/>
              </a:ext>
            </a:extLst>
          </p:cNvPr>
          <p:cNvCxnSpPr>
            <a:cxnSpLocks/>
          </p:cNvCxnSpPr>
          <p:nvPr/>
        </p:nvCxnSpPr>
        <p:spPr>
          <a:xfrm flipH="1">
            <a:off x="6776082" y="6027446"/>
            <a:ext cx="340778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lg" len="sm"/>
            <a:tailEnd type="non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A9EC3EA2-BFD9-0C7C-C197-345D4670A481}"/>
              </a:ext>
            </a:extLst>
          </p:cNvPr>
          <p:cNvSpPr txBox="1"/>
          <p:nvPr/>
        </p:nvSpPr>
        <p:spPr>
          <a:xfrm>
            <a:off x="7206078" y="5863569"/>
            <a:ext cx="27206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Verbindung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929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F831-B5C4-C21A-5DFC-7577F1137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0247E7D-BFDE-686D-34E9-7AF768060525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8879B44-621E-C764-25AF-D1D4FC3E3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Hardware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AF64DF5-2315-F1AB-9BFF-057844AF1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681" y="834962"/>
            <a:ext cx="8814637" cy="5899744"/>
          </a:xfrm>
          <a:prstGeom prst="rect">
            <a:avLst/>
          </a:prstGeom>
        </p:spPr>
      </p:pic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5171252E-D1DC-AF8F-AFA1-2A171CF5EE9E}"/>
              </a:ext>
            </a:extLst>
          </p:cNvPr>
          <p:cNvSpPr/>
          <p:nvPr/>
        </p:nvSpPr>
        <p:spPr>
          <a:xfrm>
            <a:off x="7315199" y="6163734"/>
            <a:ext cx="4804415" cy="57097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F359FA7-4F64-6D66-67E5-9866D0D19425}"/>
              </a:ext>
            </a:extLst>
          </p:cNvPr>
          <p:cNvSpPr txBox="1"/>
          <p:nvPr/>
        </p:nvSpPr>
        <p:spPr>
          <a:xfrm>
            <a:off x="7315199" y="6218387"/>
            <a:ext cx="5504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Quelle: Prof. Dr. J. Schneider - Angewandtes Informatik Projekt, API_Kap3.pdf, Folie 3-75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31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17FB0-9764-CF34-5212-459BEBA9E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35D78A38-5919-B147-F8F9-6D56DA05E163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3EC746D-DEED-FEA0-D58C-D97BEC328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Hardware – DHT-Sensor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 descr="Ein Bild, das Elektronik, Schaltung, Elektronisches Bauteil, Elektrisches Bauelement enthält.&#10;&#10;KI-generierte Inhalte können fehlerhaft sein.">
            <a:extLst>
              <a:ext uri="{FF2B5EF4-FFF2-40B4-BE49-F238E27FC236}">
                <a16:creationId xmlns:a16="http://schemas.microsoft.com/office/drawing/2014/main" id="{DC65B7F6-074E-C246-C973-01C6248CE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752734" y="1751788"/>
            <a:ext cx="1638529" cy="404869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098DF31-95C9-2413-A82C-3FEC4417928A}"/>
              </a:ext>
            </a:extLst>
          </p:cNvPr>
          <p:cNvSpPr/>
          <p:nvPr/>
        </p:nvSpPr>
        <p:spPr>
          <a:xfrm>
            <a:off x="7095068" y="1160461"/>
            <a:ext cx="1049868" cy="1481666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55BD7D9-4FC1-D6DA-A9FA-87F0D193DF19}"/>
              </a:ext>
            </a:extLst>
          </p:cNvPr>
          <p:cNvCxnSpPr>
            <a:cxnSpLocks/>
          </p:cNvCxnSpPr>
          <p:nvPr/>
        </p:nvCxnSpPr>
        <p:spPr>
          <a:xfrm>
            <a:off x="7230533" y="2642127"/>
            <a:ext cx="0" cy="445557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20354B-3E4A-D9F4-2283-9B0E7C4F4B88}"/>
              </a:ext>
            </a:extLst>
          </p:cNvPr>
          <p:cNvCxnSpPr>
            <a:cxnSpLocks/>
          </p:cNvCxnSpPr>
          <p:nvPr/>
        </p:nvCxnSpPr>
        <p:spPr>
          <a:xfrm>
            <a:off x="8026400" y="2642126"/>
            <a:ext cx="0" cy="445557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6ACE80F7-23C4-6CC7-3A30-D4A33DB333D2}"/>
              </a:ext>
            </a:extLst>
          </p:cNvPr>
          <p:cNvCxnSpPr>
            <a:cxnSpLocks/>
          </p:cNvCxnSpPr>
          <p:nvPr/>
        </p:nvCxnSpPr>
        <p:spPr>
          <a:xfrm>
            <a:off x="7492999" y="2642125"/>
            <a:ext cx="0" cy="445557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FF80B0FF-9818-94DC-A926-733CF6387413}"/>
              </a:ext>
            </a:extLst>
          </p:cNvPr>
          <p:cNvCxnSpPr>
            <a:cxnSpLocks/>
          </p:cNvCxnSpPr>
          <p:nvPr/>
        </p:nvCxnSpPr>
        <p:spPr>
          <a:xfrm>
            <a:off x="7763933" y="2642125"/>
            <a:ext cx="0" cy="445557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E597BE7F-0AC3-61DE-DBB9-9E0E19AD5A47}"/>
              </a:ext>
            </a:extLst>
          </p:cNvPr>
          <p:cNvSpPr txBox="1"/>
          <p:nvPr/>
        </p:nvSpPr>
        <p:spPr>
          <a:xfrm>
            <a:off x="7095068" y="1240823"/>
            <a:ext cx="1143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b="1" dirty="0">
                <a:latin typeface="Arial" panose="020B0604020202020204" pitchFamily="34" charset="0"/>
                <a:cs typeface="Arial" panose="020B0604020202020204" pitchFamily="34" charset="0"/>
              </a:rPr>
              <a:t>DHT22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41D39728-9BBE-B59E-6521-0A27AB2E30FB}"/>
              </a:ext>
            </a:extLst>
          </p:cNvPr>
          <p:cNvCxnSpPr>
            <a:cxnSpLocks/>
          </p:cNvCxnSpPr>
          <p:nvPr/>
        </p:nvCxnSpPr>
        <p:spPr>
          <a:xfrm flipV="1">
            <a:off x="7492999" y="3081866"/>
            <a:ext cx="0" cy="1862667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9792A60B-C50B-6D2C-7A78-831FDC1281EC}"/>
              </a:ext>
            </a:extLst>
          </p:cNvPr>
          <p:cNvCxnSpPr>
            <a:cxnSpLocks/>
          </p:cNvCxnSpPr>
          <p:nvPr/>
        </p:nvCxnSpPr>
        <p:spPr>
          <a:xfrm>
            <a:off x="5249334" y="4944533"/>
            <a:ext cx="2243665" cy="0"/>
          </a:xfrm>
          <a:prstGeom prst="line">
            <a:avLst/>
          </a:prstGeom>
          <a:ln w="444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FA05644F-80D0-4FD5-155C-90D8217D49E7}"/>
              </a:ext>
            </a:extLst>
          </p:cNvPr>
          <p:cNvCxnSpPr>
            <a:cxnSpLocks/>
          </p:cNvCxnSpPr>
          <p:nvPr/>
        </p:nvCxnSpPr>
        <p:spPr>
          <a:xfrm>
            <a:off x="3496733" y="5139267"/>
            <a:ext cx="431799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FE9E959B-1317-1177-812C-341979476EB7}"/>
              </a:ext>
            </a:extLst>
          </p:cNvPr>
          <p:cNvCxnSpPr>
            <a:cxnSpLocks/>
          </p:cNvCxnSpPr>
          <p:nvPr/>
        </p:nvCxnSpPr>
        <p:spPr>
          <a:xfrm flipV="1">
            <a:off x="3496733" y="5139267"/>
            <a:ext cx="0" cy="97943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F523E86C-EC4C-2CCE-AB1A-4B031139B812}"/>
              </a:ext>
            </a:extLst>
          </p:cNvPr>
          <p:cNvCxnSpPr>
            <a:cxnSpLocks/>
          </p:cNvCxnSpPr>
          <p:nvPr/>
        </p:nvCxnSpPr>
        <p:spPr>
          <a:xfrm>
            <a:off x="3496733" y="6118698"/>
            <a:ext cx="4529667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2FA2973-86FF-4D8C-A368-DCE37D734B82}"/>
              </a:ext>
            </a:extLst>
          </p:cNvPr>
          <p:cNvCxnSpPr>
            <a:cxnSpLocks/>
          </p:cNvCxnSpPr>
          <p:nvPr/>
        </p:nvCxnSpPr>
        <p:spPr>
          <a:xfrm flipV="1">
            <a:off x="8026400" y="3081866"/>
            <a:ext cx="0" cy="3036832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203CA585-1D12-B7CF-4312-5AFF336AB1C1}"/>
              </a:ext>
            </a:extLst>
          </p:cNvPr>
          <p:cNvCxnSpPr>
            <a:cxnSpLocks/>
          </p:cNvCxnSpPr>
          <p:nvPr/>
        </p:nvCxnSpPr>
        <p:spPr>
          <a:xfrm>
            <a:off x="3490156" y="4766373"/>
            <a:ext cx="431799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795B74CE-7CD2-1B63-0D9E-5EA34C7C1FD6}"/>
              </a:ext>
            </a:extLst>
          </p:cNvPr>
          <p:cNvCxnSpPr>
            <a:cxnSpLocks/>
          </p:cNvCxnSpPr>
          <p:nvPr/>
        </p:nvCxnSpPr>
        <p:spPr>
          <a:xfrm>
            <a:off x="3496733" y="1456266"/>
            <a:ext cx="0" cy="3310107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7A330A30-2CA2-CE2E-A121-F05C6E84E246}"/>
              </a:ext>
            </a:extLst>
          </p:cNvPr>
          <p:cNvCxnSpPr>
            <a:cxnSpLocks/>
          </p:cNvCxnSpPr>
          <p:nvPr/>
        </p:nvCxnSpPr>
        <p:spPr>
          <a:xfrm>
            <a:off x="3490155" y="1462571"/>
            <a:ext cx="2161615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AF121769-0B32-E1E2-172E-855360B19F85}"/>
              </a:ext>
            </a:extLst>
          </p:cNvPr>
          <p:cNvCxnSpPr>
            <a:cxnSpLocks/>
          </p:cNvCxnSpPr>
          <p:nvPr/>
        </p:nvCxnSpPr>
        <p:spPr>
          <a:xfrm>
            <a:off x="5640685" y="1429605"/>
            <a:ext cx="6577" cy="2113785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EEB579A8-10FC-6961-C457-6D6946197356}"/>
              </a:ext>
            </a:extLst>
          </p:cNvPr>
          <p:cNvCxnSpPr>
            <a:cxnSpLocks/>
          </p:cNvCxnSpPr>
          <p:nvPr/>
        </p:nvCxnSpPr>
        <p:spPr>
          <a:xfrm>
            <a:off x="5647262" y="3543390"/>
            <a:ext cx="1583271" cy="26661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DA20666E-931B-A91D-37EA-52DC4551A3FE}"/>
              </a:ext>
            </a:extLst>
          </p:cNvPr>
          <p:cNvCxnSpPr>
            <a:cxnSpLocks/>
          </p:cNvCxnSpPr>
          <p:nvPr/>
        </p:nvCxnSpPr>
        <p:spPr>
          <a:xfrm>
            <a:off x="7230533" y="3081866"/>
            <a:ext cx="0" cy="488185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feld 63">
            <a:extLst>
              <a:ext uri="{FF2B5EF4-FFF2-40B4-BE49-F238E27FC236}">
                <a16:creationId xmlns:a16="http://schemas.microsoft.com/office/drawing/2014/main" id="{E5F818D6-5DD4-921D-F9FD-F6C44A651147}"/>
              </a:ext>
            </a:extLst>
          </p:cNvPr>
          <p:cNvSpPr txBox="1"/>
          <p:nvPr/>
        </p:nvSpPr>
        <p:spPr>
          <a:xfrm>
            <a:off x="5640685" y="4528771"/>
            <a:ext cx="14342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b="1" dirty="0">
                <a:latin typeface="Arial" panose="020B0604020202020204" pitchFamily="34" charset="0"/>
                <a:cs typeface="Arial" panose="020B0604020202020204" pitchFamily="34" charset="0"/>
              </a:rPr>
              <a:t>Data GP2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8201E8A4-F5F6-7548-D92D-1F9733F8A204}"/>
              </a:ext>
            </a:extLst>
          </p:cNvPr>
          <p:cNvSpPr txBox="1"/>
          <p:nvPr/>
        </p:nvSpPr>
        <p:spPr>
          <a:xfrm>
            <a:off x="5653728" y="5691672"/>
            <a:ext cx="14342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b="1" dirty="0">
                <a:latin typeface="Arial" panose="020B0604020202020204" pitchFamily="34" charset="0"/>
                <a:cs typeface="Arial" panose="020B0604020202020204" pitchFamily="34" charset="0"/>
              </a:rPr>
              <a:t>GND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E64A2AFA-5C2C-869E-B3C3-2B0E47AEACB3}"/>
              </a:ext>
            </a:extLst>
          </p:cNvPr>
          <p:cNvSpPr txBox="1"/>
          <p:nvPr/>
        </p:nvSpPr>
        <p:spPr>
          <a:xfrm>
            <a:off x="5653728" y="3147000"/>
            <a:ext cx="16053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b="1" dirty="0">
                <a:latin typeface="Arial" panose="020B0604020202020204" pitchFamily="34" charset="0"/>
                <a:cs typeface="Arial" panose="020B0604020202020204" pitchFamily="34" charset="0"/>
              </a:rPr>
              <a:t>VCC +3.3V</a:t>
            </a:r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21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DEC3-0778-BC5B-2213-A14B2C98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07FBFC9-0E11-AD9F-00D9-77D99B9CDF8D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11DE23-787D-DF6C-B725-CBF7EC698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Hardware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AD346D7-1162-A2D8-B94E-71F339FE7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495" y="2025767"/>
            <a:ext cx="6335009" cy="4505954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2F730760-989F-F461-6E7A-56A78D3382B8}"/>
              </a:ext>
            </a:extLst>
          </p:cNvPr>
          <p:cNvSpPr/>
          <p:nvPr/>
        </p:nvSpPr>
        <p:spPr>
          <a:xfrm>
            <a:off x="2053167" y="997802"/>
            <a:ext cx="8085667" cy="7450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4B3337F-F86C-22F0-B5A1-D30E0CA71A1E}"/>
              </a:ext>
            </a:extLst>
          </p:cNvPr>
          <p:cNvSpPr txBox="1"/>
          <p:nvPr/>
        </p:nvSpPr>
        <p:spPr>
          <a:xfrm>
            <a:off x="2205567" y="1124113"/>
            <a:ext cx="77808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Pico Ausschnitt main.py</a:t>
            </a:r>
            <a:endParaRPr lang="en-GB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711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95015-A8BA-0EC8-75E9-C9EDE7036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A9D312C-0AC2-681A-DF09-6422D01A50DC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AD5E0E2-8C25-DE65-63DA-A98D1DD44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Hardware – Pico Mikro Python Loop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8838217-5060-AB74-9B18-603EA059A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092" y="838285"/>
            <a:ext cx="6665816" cy="589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38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3E68-5C22-58EB-E302-E770ED1A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CDA879C-B897-7333-EF9B-4FFFDA9CE5FC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293623E-B411-7FA2-2203-1E212D758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Hardware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240A12E-E5EE-8C6D-6973-A9029793A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33" y="2024661"/>
            <a:ext cx="10430934" cy="3303821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F27BDFE3-C17B-BCCD-4027-F556620CEFD5}"/>
              </a:ext>
            </a:extLst>
          </p:cNvPr>
          <p:cNvSpPr/>
          <p:nvPr/>
        </p:nvSpPr>
        <p:spPr>
          <a:xfrm>
            <a:off x="2053167" y="997249"/>
            <a:ext cx="8085667" cy="7450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58008E6-6544-8703-1447-7BFFF72A5390}"/>
              </a:ext>
            </a:extLst>
          </p:cNvPr>
          <p:cNvSpPr txBox="1"/>
          <p:nvPr/>
        </p:nvSpPr>
        <p:spPr>
          <a:xfrm>
            <a:off x="2205567" y="1123560"/>
            <a:ext cx="77808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Pico Ausschnitt states.py</a:t>
            </a:r>
            <a:endParaRPr lang="en-GB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15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4B59A-0D57-2ECA-42F2-D35F5C63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630D327-2564-12CD-3BE1-B86F7520E1B0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BD60746-EAC0-7F08-7C3A-64EB4BE42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Docker – </a:t>
            </a:r>
            <a:r>
              <a:rPr lang="de-DE" sz="3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docker-compose.yml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fik 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6E6645C8-4D71-4523-0C4B-FFA0F17A1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311" y="923718"/>
            <a:ext cx="6287377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0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FDBD1-4704-2D67-D8D9-BB2690BC8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96ECF7BB-E147-2EE8-6EC2-B73F66FDE540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738A894-3B8C-3347-E31F-5A98F7AB2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Docker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BBB0F8E3-F720-8F06-9575-24B820BF3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33" y="2581714"/>
            <a:ext cx="10431331" cy="1895740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4BD956E9-67A0-26F2-47C0-A80C02A5FD83}"/>
              </a:ext>
            </a:extLst>
          </p:cNvPr>
          <p:cNvSpPr/>
          <p:nvPr/>
        </p:nvSpPr>
        <p:spPr>
          <a:xfrm>
            <a:off x="2053167" y="997249"/>
            <a:ext cx="8085667" cy="7450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1E23B5B-B988-2D3B-E0BC-CAFE80720DBC}"/>
              </a:ext>
            </a:extLst>
          </p:cNvPr>
          <p:cNvSpPr txBox="1"/>
          <p:nvPr/>
        </p:nvSpPr>
        <p:spPr>
          <a:xfrm>
            <a:off x="2205567" y="1123560"/>
            <a:ext cx="77808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</a:t>
            </a:r>
            <a:r>
              <a:rPr lang="de-DE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compose</a:t>
            </a:r>
            <a:endParaRPr lang="en-GB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048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811BF-9AD3-E2D0-7F80-D3DDA667B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3F159E6B-3B23-A086-419F-3CCDBA76DFF6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272AA31-C287-C8BB-686B-43DC1CFF1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CA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2FEE550C-218E-8268-D774-7085F9F38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639" y="2527972"/>
            <a:ext cx="1732606" cy="3180100"/>
          </a:xfrm>
          <a:prstGeom prst="rect">
            <a:avLst/>
          </a:prstGeom>
        </p:spPr>
      </p:pic>
      <p:pic>
        <p:nvPicPr>
          <p:cNvPr id="5" name="Grafik 4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CDC75D0D-7BA0-3CDB-C1D8-36FCF7DE8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27972"/>
            <a:ext cx="2057687" cy="2686425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2EDA1D5E-1041-DE63-5338-63D3896C05B1}"/>
              </a:ext>
            </a:extLst>
          </p:cNvPr>
          <p:cNvSpPr/>
          <p:nvPr/>
        </p:nvSpPr>
        <p:spPr>
          <a:xfrm>
            <a:off x="2053167" y="997249"/>
            <a:ext cx="8085667" cy="7450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FF45C2B-3A85-D99A-4A63-50F46ABEBE6C}"/>
              </a:ext>
            </a:extLst>
          </p:cNvPr>
          <p:cNvSpPr txBox="1"/>
          <p:nvPr/>
        </p:nvSpPr>
        <p:spPr>
          <a:xfrm>
            <a:off x="2205567" y="1123560"/>
            <a:ext cx="77808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 und </a:t>
            </a:r>
            <a:r>
              <a:rPr lang="de-DE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mosquitto</a:t>
            </a:r>
            <a:r>
              <a:rPr lang="de-DE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Struktur</a:t>
            </a:r>
            <a:endParaRPr lang="en-GB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495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DE41F-9064-CD35-ACF1-134DC280C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99A6EF6-0EB3-F6DB-560B-4B348873BCC1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4D9D95-285D-9C3C-A869-E33540599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MQTT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0857790C-B5DB-4830-548B-B4CAA08C461F}"/>
              </a:ext>
            </a:extLst>
          </p:cNvPr>
          <p:cNvSpPr/>
          <p:nvPr/>
        </p:nvSpPr>
        <p:spPr>
          <a:xfrm>
            <a:off x="4163484" y="3356743"/>
            <a:ext cx="3594100" cy="694266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10495C5-3F72-6FDA-40F0-92AED4E445F9}"/>
              </a:ext>
            </a:extLst>
          </p:cNvPr>
          <p:cNvSpPr txBox="1"/>
          <p:nvPr/>
        </p:nvSpPr>
        <p:spPr>
          <a:xfrm>
            <a:off x="4601633" y="3401229"/>
            <a:ext cx="2717801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de-DE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MQTT Broker (</a:t>
            </a:r>
            <a:r>
              <a:rPr lang="de-DE" sz="1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Mosquitto</a:t>
            </a:r>
            <a:r>
              <a:rPr lang="de-DE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Container)</a:t>
            </a:r>
            <a:endParaRPr lang="de-DE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98A76C33-7B21-5F73-BCFD-146832F44BFF}"/>
              </a:ext>
            </a:extLst>
          </p:cNvPr>
          <p:cNvSpPr/>
          <p:nvPr/>
        </p:nvSpPr>
        <p:spPr>
          <a:xfrm>
            <a:off x="4163484" y="1301777"/>
            <a:ext cx="3594100" cy="69426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F1E73FA-61D6-D245-31EA-BCE1BAB43606}"/>
              </a:ext>
            </a:extLst>
          </p:cNvPr>
          <p:cNvSpPr txBox="1"/>
          <p:nvPr/>
        </p:nvSpPr>
        <p:spPr>
          <a:xfrm>
            <a:off x="4601633" y="1495067"/>
            <a:ext cx="2717801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de-DE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Raspberry Pi Pico WH</a:t>
            </a:r>
            <a:endParaRPr lang="de-DE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6C1EE35-395C-C7AC-2193-FCE840196F3F}"/>
              </a:ext>
            </a:extLst>
          </p:cNvPr>
          <p:cNvSpPr/>
          <p:nvPr/>
        </p:nvSpPr>
        <p:spPr>
          <a:xfrm>
            <a:off x="4163484" y="5411709"/>
            <a:ext cx="3594100" cy="69426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3252B50-07C0-5F54-4D0A-E03A697CCD2A}"/>
              </a:ext>
            </a:extLst>
          </p:cNvPr>
          <p:cNvSpPr txBox="1"/>
          <p:nvPr/>
        </p:nvSpPr>
        <p:spPr>
          <a:xfrm>
            <a:off x="4601633" y="5456195"/>
            <a:ext cx="2717801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Raspberry Pi 4 B (Backend)</a:t>
            </a:r>
            <a:endParaRPr lang="de-DE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1D77D64-C25F-AE93-1B59-48883BC059DE}"/>
              </a:ext>
            </a:extLst>
          </p:cNvPr>
          <p:cNvCxnSpPr>
            <a:cxnSpLocks/>
            <a:stCxn id="2" idx="0"/>
            <a:endCxn id="5" idx="2"/>
          </p:cNvCxnSpPr>
          <p:nvPr/>
        </p:nvCxnSpPr>
        <p:spPr>
          <a:xfrm flipV="1">
            <a:off x="5960534" y="1996043"/>
            <a:ext cx="0" cy="1360700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prstDash val="solid"/>
            <a:headEnd type="triangle" w="lg" len="med"/>
            <a:tailEnd type="non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BCA3664-FBBF-514D-C121-67A8A49A2D6B}"/>
              </a:ext>
            </a:extLst>
          </p:cNvPr>
          <p:cNvCxnSpPr>
            <a:cxnSpLocks/>
          </p:cNvCxnSpPr>
          <p:nvPr/>
        </p:nvCxnSpPr>
        <p:spPr>
          <a:xfrm flipV="1">
            <a:off x="5376333" y="4051009"/>
            <a:ext cx="0" cy="1360700"/>
          </a:xfrm>
          <a:prstGeom prst="straightConnector1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  <a:prstDash val="solid"/>
            <a:headEnd type="triangle" w="lg" len="med"/>
            <a:tailEnd type="non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6104A0CA-2CBB-FB92-0D42-F71C8FAFC2AE}"/>
              </a:ext>
            </a:extLst>
          </p:cNvPr>
          <p:cNvCxnSpPr>
            <a:cxnSpLocks/>
          </p:cNvCxnSpPr>
          <p:nvPr/>
        </p:nvCxnSpPr>
        <p:spPr>
          <a:xfrm>
            <a:off x="6629401" y="4051009"/>
            <a:ext cx="0" cy="136070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prstDash val="solid"/>
            <a:headEnd type="triangle" w="lg" len="med"/>
            <a:tailEnd type="none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F3720400-C699-AF95-DFA2-61105E13BF3C}"/>
              </a:ext>
            </a:extLst>
          </p:cNvPr>
          <p:cNvSpPr txBox="1"/>
          <p:nvPr/>
        </p:nvSpPr>
        <p:spPr>
          <a:xfrm>
            <a:off x="2768599" y="2510706"/>
            <a:ext cx="3200400" cy="331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publish(‘</a:t>
            </a: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‘, </a:t>
            </a: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payload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59E52DE-5A13-886B-BD3F-351C954840D2}"/>
              </a:ext>
            </a:extLst>
          </p:cNvPr>
          <p:cNvSpPr txBox="1"/>
          <p:nvPr/>
        </p:nvSpPr>
        <p:spPr>
          <a:xfrm>
            <a:off x="6578599" y="4565672"/>
            <a:ext cx="2692398" cy="331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subscribe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‘)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9233934-ACB9-E4D5-6931-FFB107F336F7}"/>
              </a:ext>
            </a:extLst>
          </p:cNvPr>
          <p:cNvSpPr txBox="1"/>
          <p:nvPr/>
        </p:nvSpPr>
        <p:spPr>
          <a:xfrm>
            <a:off x="3363385" y="4565672"/>
            <a:ext cx="2067981" cy="331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forward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DE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payloads</a:t>
            </a:r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EBBA675-2DA7-4AB1-B77B-02E545698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30891"/>
            <a:ext cx="2937930" cy="1115255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DBAF1026-450F-47D3-B0B7-5E0AD2989435}"/>
              </a:ext>
            </a:extLst>
          </p:cNvPr>
          <p:cNvSpPr txBox="1"/>
          <p:nvPr/>
        </p:nvSpPr>
        <p:spPr>
          <a:xfrm>
            <a:off x="880533" y="3551532"/>
            <a:ext cx="15197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Verschlüsselt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Geschweifte Klammer links 26">
            <a:extLst>
              <a:ext uri="{FF2B5EF4-FFF2-40B4-BE49-F238E27FC236}">
                <a16:creationId xmlns:a16="http://schemas.microsoft.com/office/drawing/2014/main" id="{36028367-AC63-64CE-219D-706196157F01}"/>
              </a:ext>
            </a:extLst>
          </p:cNvPr>
          <p:cNvSpPr/>
          <p:nvPr/>
        </p:nvSpPr>
        <p:spPr>
          <a:xfrm>
            <a:off x="2366435" y="1996043"/>
            <a:ext cx="594771" cy="3460152"/>
          </a:xfrm>
          <a:prstGeom prst="lef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354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D1625-BF05-7660-F587-EA21DBF7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8A60069-2ADA-9A25-0640-0418CC0267D1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9144CE-1DAD-6528-C0B7-7792375B6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MQTT – </a:t>
            </a:r>
            <a:r>
              <a:rPr lang="de-DE" sz="3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mosquitto.conf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7A803FE-2611-343D-7C60-78C6646A4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072" y="875204"/>
            <a:ext cx="4389856" cy="583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9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399D9-9708-32E4-0BF1-19CB97F4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DD78101-6ACE-D5BE-5772-E1FEF2D05A80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25477A4-80C9-EB66-8529-821720B60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MQTT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 descr="Ein Bild, das Text, Schrift, weiß, Algebra enthält.&#10;&#10;KI-generierte Inhalte können fehlerhaft sein.">
            <a:extLst>
              <a:ext uri="{FF2B5EF4-FFF2-40B4-BE49-F238E27FC236}">
                <a16:creationId xmlns:a16="http://schemas.microsoft.com/office/drawing/2014/main" id="{B59ACE0F-E3BD-3277-DC28-FB7A87393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286" y="2628290"/>
            <a:ext cx="5039428" cy="2543530"/>
          </a:xfrm>
          <a:prstGeom prst="rect">
            <a:avLst/>
          </a:prstGeom>
        </p:spPr>
      </p:pic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BCD432D7-EBD4-5B3D-A004-580709C22417}"/>
              </a:ext>
            </a:extLst>
          </p:cNvPr>
          <p:cNvSpPr/>
          <p:nvPr/>
        </p:nvSpPr>
        <p:spPr>
          <a:xfrm>
            <a:off x="2053167" y="997249"/>
            <a:ext cx="8085667" cy="7450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83E9438-6E13-A329-762E-781621A03AE8}"/>
              </a:ext>
            </a:extLst>
          </p:cNvPr>
          <p:cNvSpPr txBox="1"/>
          <p:nvPr/>
        </p:nvSpPr>
        <p:spPr>
          <a:xfrm>
            <a:off x="2205567" y="1123560"/>
            <a:ext cx="77808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acl</a:t>
            </a:r>
            <a:endParaRPr lang="en-GB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912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354E-D969-CDCC-6B62-544F548DB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0311C15-DA57-6ACE-89D8-CAEB81D19E20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51D7CC5-64F1-49D1-86E8-F8E454EA0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MQTT – Publish / </a:t>
            </a:r>
            <a:r>
              <a:rPr lang="de-DE" sz="3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Subscribe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732855E-DED0-8232-92C0-F518A33EA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33" y="1271558"/>
            <a:ext cx="10430934" cy="633655"/>
          </a:xfrm>
          <a:prstGeom prst="rect">
            <a:avLst/>
          </a:prstGeom>
        </p:spPr>
      </p:pic>
      <p:pic>
        <p:nvPicPr>
          <p:cNvPr id="9" name="Grafik 8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id="{DD5C08A1-C50A-7C2C-19E3-5C0AFBFFEA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33" y="4409160"/>
            <a:ext cx="10430934" cy="1928549"/>
          </a:xfrm>
          <a:prstGeom prst="rect">
            <a:avLst/>
          </a:prstGeom>
        </p:spPr>
      </p:pic>
      <p:pic>
        <p:nvPicPr>
          <p:cNvPr id="12" name="Grafik 11" descr="Ein Bild, das Text, Screenshot, Schrift, Quittung enthält.&#10;&#10;KI-generierte Inhalte können fehlerhaft sein.">
            <a:extLst>
              <a:ext uri="{FF2B5EF4-FFF2-40B4-BE49-F238E27FC236}">
                <a16:creationId xmlns:a16="http://schemas.microsoft.com/office/drawing/2014/main" id="{259D5E09-DAC0-01D7-268C-45579341EA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33" y="2264037"/>
            <a:ext cx="10430934" cy="1868352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ADC07263-D32E-1DAB-8335-4CC8E7E1A845}"/>
              </a:ext>
            </a:extLst>
          </p:cNvPr>
          <p:cNvSpPr/>
          <p:nvPr/>
        </p:nvSpPr>
        <p:spPr>
          <a:xfrm>
            <a:off x="3398982" y="4802909"/>
            <a:ext cx="757382" cy="25861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66F7837-C318-97A8-5293-CE6FC8028727}"/>
              </a:ext>
            </a:extLst>
          </p:cNvPr>
          <p:cNvSpPr/>
          <p:nvPr/>
        </p:nvSpPr>
        <p:spPr>
          <a:xfrm>
            <a:off x="3398982" y="2646218"/>
            <a:ext cx="757382" cy="25861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21C6C99-B025-9075-CD12-373FB5FD9A32}"/>
              </a:ext>
            </a:extLst>
          </p:cNvPr>
          <p:cNvSpPr/>
          <p:nvPr/>
        </p:nvSpPr>
        <p:spPr>
          <a:xfrm>
            <a:off x="4548909" y="1646595"/>
            <a:ext cx="1002146" cy="25861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831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FCAF1-55C7-3240-C5D7-5FE4540A8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C0B51BF-ED63-3181-21E7-CE53C34DFC42}"/>
              </a:ext>
            </a:extLst>
          </p:cNvPr>
          <p:cNvSpPr/>
          <p:nvPr/>
        </p:nvSpPr>
        <p:spPr>
          <a:xfrm>
            <a:off x="880533" y="143932"/>
            <a:ext cx="10430934" cy="57097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BCCA47B-0F48-ED52-D416-34F434385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534" y="123294"/>
            <a:ext cx="9144000" cy="570972"/>
          </a:xfrm>
        </p:spPr>
        <p:txBody>
          <a:bodyPr>
            <a:normAutofit/>
          </a:bodyPr>
          <a:lstStyle/>
          <a:p>
            <a:r>
              <a:rPr lang="de-DE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MQTT</a:t>
            </a:r>
            <a:endParaRPr lang="en-GB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E2FFA608-A7F4-1161-EF8C-38E705E63982}"/>
              </a:ext>
            </a:extLst>
          </p:cNvPr>
          <p:cNvSpPr/>
          <p:nvPr/>
        </p:nvSpPr>
        <p:spPr>
          <a:xfrm>
            <a:off x="2053167" y="997249"/>
            <a:ext cx="8085667" cy="745067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C22D88-558D-D79D-8DD2-5A8CB1F3F189}"/>
              </a:ext>
            </a:extLst>
          </p:cNvPr>
          <p:cNvSpPr txBox="1"/>
          <p:nvPr/>
        </p:nvSpPr>
        <p:spPr>
          <a:xfrm>
            <a:off x="2205567" y="1123560"/>
            <a:ext cx="77808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Pico mqtt.py</a:t>
            </a:r>
            <a:endParaRPr lang="en-GB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716DA75-0BCB-B30B-985D-3E4B563AF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668" y="1868627"/>
            <a:ext cx="6219731" cy="482329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1CB4F565-504D-151C-109C-E2FFD457A703}"/>
              </a:ext>
            </a:extLst>
          </p:cNvPr>
          <p:cNvSpPr/>
          <p:nvPr/>
        </p:nvSpPr>
        <p:spPr>
          <a:xfrm>
            <a:off x="4913745" y="4424218"/>
            <a:ext cx="1182255" cy="3417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53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Microsoft Office PowerPoint</Application>
  <PresentationFormat>Breitbild</PresentationFormat>
  <Paragraphs>98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</vt:lpstr>
      <vt:lpstr>Phase 3</vt:lpstr>
      <vt:lpstr>Struktur</vt:lpstr>
      <vt:lpstr>1. Meilenstein</vt:lpstr>
      <vt:lpstr>1. Meilenstein</vt:lpstr>
      <vt:lpstr>1. Meilenstein</vt:lpstr>
      <vt:lpstr>Aufgabenteilung</vt:lpstr>
      <vt:lpstr>Deployment Diagramm</vt:lpstr>
      <vt:lpstr>2. Hardware</vt:lpstr>
      <vt:lpstr>2. Hardware – DHT-Sensor</vt:lpstr>
      <vt:lpstr>2. Hardware</vt:lpstr>
      <vt:lpstr>2. Hardware – Pico Mikro Python Loop</vt:lpstr>
      <vt:lpstr>2. Hardware</vt:lpstr>
      <vt:lpstr>3. Docker – docker-compose.yml</vt:lpstr>
      <vt:lpstr>3. Docker</vt:lpstr>
      <vt:lpstr>4. CA</vt:lpstr>
      <vt:lpstr>5. MQTT</vt:lpstr>
      <vt:lpstr>5. MQTT – mosquitto.conf</vt:lpstr>
      <vt:lpstr>5. MQTT</vt:lpstr>
      <vt:lpstr>5. MQTT – Publish / Subscribe</vt:lpstr>
      <vt:lpstr>5. MQTT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Neer Walter</dc:creator>
  <cp:lastModifiedBy>Neer Walter</cp:lastModifiedBy>
  <cp:revision>13</cp:revision>
  <dcterms:created xsi:type="dcterms:W3CDTF">2026-05-05T07:18:51Z</dcterms:created>
  <dcterms:modified xsi:type="dcterms:W3CDTF">2026-05-05T20:57:08Z</dcterms:modified>
</cp:coreProperties>
</file>