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Folie mittels Klicken verschieben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C480F7-D42F-4E7C-9082-9304A99698ED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7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3AB4DA-28A9-4712-A9B7-BED673C00016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8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F8036D-6CF8-4CAC-87BE-0BE63DFCF66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9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6E8FA8-FCDD-45CF-8CF1-787A15502174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0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1222B1-BD6C-4649-90D1-29CCBB223488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1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6A651D-D45D-4F1D-BAA0-1A461D6C2D4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2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8E4040-894B-409A-A9CE-BF39C96FB3D4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3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242952-D0E8-4FE0-8378-F4ADBF63461D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4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268C44-5D7E-45CC-9609-00BF0CB25E43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5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040F9C-1F7F-4D7D-ADF4-0AC5278A58E2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6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F2B8B0-64C8-423A-AC24-4FB053846719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7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93A69D-553F-41E8-9537-4A0392EB06E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32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8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6B1336-7D06-471C-B213-0999685F0B1D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9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6127CB-666E-484F-981A-4ED68700A015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20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D740FC-8EC2-45C1-A100-1C04E560B5D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21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3E6DB1-F58D-4149-B6E7-5752A4ADEB9D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2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5AF7A-9456-482A-AB37-D9BF5D17F1A9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23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4742E1-8DEE-477B-834E-B5E605BCA2F7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4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CD860A-8FDA-4A65-9DCA-FD46B8A32719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5680" cy="23137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5680" cy="26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5"/>
          </p:nvPr>
        </p:nvSpPr>
        <p:spPr>
          <a:xfrm>
            <a:off x="3884760" y="6513840"/>
            <a:ext cx="2971080" cy="34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64B938-CDF3-4702-B3C5-18DB96AD825F}" type="slidenum"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EE66AA-770C-4BAC-8A8F-7E22E06CF54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15B444-5A22-4B72-A41A-619A59A296E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BAC0EA-ED24-411A-96BC-D875CEB791F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Format des 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Titeltextes 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durch 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Klicken 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bearbeiten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CB3F9E-48FA-499A-96A1-47AF551D9484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&lt;Foliennummer&gt;</a:t>
            </a:fld>
            <a:endParaRPr b="0" lang="de-D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Format des Titeltextes durch Klicken 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bearbeiten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39E0FA-10C5-48EE-977D-FE4D197ECB63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&lt;Foliennummer&gt;</a:t>
            </a:fld>
            <a:endParaRPr b="0" lang="de-DE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F97AF1-8697-4461-BE85-A73B0AD28E2D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&lt;Foliennummer&gt;</a:t>
            </a:fld>
            <a:endParaRPr b="0" lang="de-DE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Format des Titeltextes durch Klicken bearbeiten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Format des Gliederungstextes durch </a:t>
            </a: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Klicken bearbeiten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Zweite Gliederungsebene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Dritte Gliederungsebene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Vierte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Fünfte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Sechste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Siebte Gliederungsebene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6.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Deve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lopm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ent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of a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secu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re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Web 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Appl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icati</a:t>
            </a: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on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Arial"/>
              </a:rPr>
              <a:t>Barnabas Steiner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1666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Agenda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 🔑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Keycloak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🗄️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MariaDB Least Privilege DB-User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🛡️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server.js AuthN/AuthZ für Dashboard &amp; Controller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⚙️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controller.py AuthN/AuthZ mit Keycloak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🖥️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Web-Dashboard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🏁 </a:t>
            </a:r>
            <a:r>
              <a:rPr b="0" lang="en-US" sz="1800" spc="-1" strike="noStrike">
                <a:solidFill>
                  <a:srgbClr val="595959"/>
                </a:solidFill>
                <a:latin typeface="Arial"/>
                <a:ea typeface="Arial"/>
              </a:rPr>
              <a:t>Fazit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70;p 3"/>
          <p:cNvSpPr/>
          <p:nvPr/>
        </p:nvSpPr>
        <p:spPr>
          <a:xfrm>
            <a:off x="312120" y="642240"/>
            <a:ext cx="4369680" cy="149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Container Externals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oogle Shape;72;p 3"/>
          <p:cNvSpPr/>
          <p:nvPr/>
        </p:nvSpPr>
        <p:spPr>
          <a:xfrm>
            <a:off x="2743200" y="1333800"/>
            <a:ext cx="155160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Docker-Bridge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'sensor-net'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76;p 3"/>
          <p:cNvSpPr/>
          <p:nvPr/>
        </p:nvSpPr>
        <p:spPr>
          <a:xfrm>
            <a:off x="509040" y="1326960"/>
            <a:ext cx="176436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Client 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(Produktion Netz)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78;p 3"/>
          <p:cNvSpPr/>
          <p:nvPr/>
        </p:nvSpPr>
        <p:spPr>
          <a:xfrm>
            <a:off x="204480" y="2707920"/>
            <a:ext cx="8683560" cy="192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Backend Server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79;p 3"/>
          <p:cNvSpPr/>
          <p:nvPr/>
        </p:nvSpPr>
        <p:spPr>
          <a:xfrm>
            <a:off x="3805200" y="200520"/>
            <a:ext cx="274248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Google Shape;80;p 3"/>
          <p:cNvSpPr/>
          <p:nvPr/>
        </p:nvSpPr>
        <p:spPr>
          <a:xfrm>
            <a:off x="556200" y="3766680"/>
            <a:ext cx="146340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nginx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(Reverse Proxy)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82;p 3"/>
          <p:cNvSpPr/>
          <p:nvPr/>
        </p:nvSpPr>
        <p:spPr>
          <a:xfrm>
            <a:off x="4620960" y="362520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server.js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(node.js)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83;p 3"/>
          <p:cNvSpPr/>
          <p:nvPr/>
        </p:nvSpPr>
        <p:spPr>
          <a:xfrm>
            <a:off x="4834080" y="1792080"/>
            <a:ext cx="123372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Google Shape;84;p 3"/>
          <p:cNvSpPr/>
          <p:nvPr/>
        </p:nvSpPr>
        <p:spPr>
          <a:xfrm>
            <a:off x="2461320" y="3106440"/>
            <a:ext cx="146304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keyCloak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(AuthN/AuthZ))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86;p 3"/>
          <p:cNvSpPr/>
          <p:nvPr/>
        </p:nvSpPr>
        <p:spPr>
          <a:xfrm>
            <a:off x="7016400" y="320796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MariaDB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(Database)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90;p 3"/>
          <p:cNvSpPr/>
          <p:nvPr/>
        </p:nvSpPr>
        <p:spPr>
          <a:xfrm>
            <a:off x="2576520" y="4021200"/>
            <a:ext cx="11998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HTTPS:3443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91;p 3"/>
          <p:cNvSpPr/>
          <p:nvPr/>
        </p:nvSpPr>
        <p:spPr>
          <a:xfrm>
            <a:off x="1722600" y="313416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93;p 3"/>
          <p:cNvSpPr/>
          <p:nvPr/>
        </p:nvSpPr>
        <p:spPr>
          <a:xfrm>
            <a:off x="4160520" y="295920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AuthZ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96;p 3"/>
          <p:cNvSpPr/>
          <p:nvPr/>
        </p:nvSpPr>
        <p:spPr>
          <a:xfrm>
            <a:off x="6177600" y="3830400"/>
            <a:ext cx="1028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SQL &amp; TLS :3306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97;p 3"/>
          <p:cNvSpPr/>
          <p:nvPr/>
        </p:nvSpPr>
        <p:spPr>
          <a:xfrm>
            <a:off x="1263600" y="2276280"/>
            <a:ext cx="234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(AuthN, AuthZ, RESTful API)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 flipH="1">
            <a:off x="1130400" y="2140920"/>
            <a:ext cx="25200" cy="16257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 flipV="1">
            <a:off x="5854680" y="3456360"/>
            <a:ext cx="1161720" cy="3744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 flipV="1">
            <a:off x="2019600" y="3869280"/>
            <a:ext cx="2601360" cy="11628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3924360" y="3350520"/>
            <a:ext cx="686160" cy="38268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 flipH="1">
            <a:off x="2019600" y="3444120"/>
            <a:ext cx="426960" cy="4251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Title 1"/>
          <p:cNvSpPr txBox="1"/>
          <p:nvPr/>
        </p:nvSpPr>
        <p:spPr>
          <a:xfrm>
            <a:off x="2553120" y="448920"/>
            <a:ext cx="8229240" cy="1799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algn="ctr">
              <a:lnSpc>
                <a:spcPct val="120000"/>
              </a:lnSpc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🔑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Keycloak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docker-compose.yml &gt; keycloak_web Service + keycloak_data Volume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ColHeader"/>
          <p:cNvSpPr/>
          <p:nvPr/>
        </p:nvSpPr>
        <p:spPr>
          <a:xfrm>
            <a:off x="100080" y="443880"/>
            <a:ext cx="355896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docker-compose.yml  (before — nicht vorhanden)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ColHeader"/>
          <p:cNvSpPr/>
          <p:nvPr/>
        </p:nvSpPr>
        <p:spPr>
          <a:xfrm>
            <a:off x="3754440" y="443880"/>
            <a:ext cx="52891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docker-compose.yml  (after)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CodeBG"/>
          <p:cNvSpPr/>
          <p:nvPr/>
        </p:nvSpPr>
        <p:spPr>
          <a:xfrm>
            <a:off x="100080" y="669960"/>
            <a:ext cx="355104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① </a:t>
            </a: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Neuer Service: keycloak_web  (Keycloak IAM — OIDC Provider)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② </a:t>
            </a: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Neues Named Volume: keycloak_data  (persistente Keycloak-Daten)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106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volumes: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107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mariadb-data: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CodeBG"/>
          <p:cNvSpPr/>
          <p:nvPr/>
        </p:nvSpPr>
        <p:spPr>
          <a:xfrm>
            <a:off x="3762360" y="669960"/>
            <a:ext cx="528120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① </a:t>
            </a: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Neuer Service: keycloak_web  (Keycloak IAM — OIDC Provider)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88+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keycloak_web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89+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image: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quay.io/keycloak/keycloak:23.0.7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90+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container_name: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keycloak_web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91+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environment: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93+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KC_HOSTNAME_PORT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8443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94+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KC_HOSTNAME_STRICT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"false"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95+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KC_HOSTNAME_STRICT_HTTPS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"false"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96+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KC_PROXY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edge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97+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KC_LOG_LEVEL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info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98+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KC_METRICS_ENABLED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"true"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99+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KC_HEALTH_ENABLED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"true"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100+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KEYCLOAK_ADMIN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admin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101+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KEYCLOAK_ADMIN_PASSWORD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admin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102+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KC_HTTP_RELATIVE_PATH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/auth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103+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volumes: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104+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keycloak_data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:/opt/keycloak/data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105+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./keycloak/iot-realm.json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:/opt/keycloak/data/import/iot-realm.json:ro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106+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command: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start-dev --http-port 8080 --import-realm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107+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healthcheck: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109+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test: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["CMD-SHELL", "exec 3&lt;&gt;/dev/tcp/127.0.0.1/8080 &amp;&amp; echo …"]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110+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timeout: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10s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retries: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5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start_period: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40s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113+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ports: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114+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"8443:8080"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115+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networks: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116+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8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app-network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② </a:t>
            </a:r>
            <a:r>
              <a:rPr b="0" lang="de-DE" sz="800" spc="-1" strike="noStrike">
                <a:solidFill>
                  <a:srgbClr val="0366d6"/>
                </a:solidFill>
                <a:latin typeface="Consolas"/>
              </a:rPr>
              <a:t>Neues Named Volume: keycloak_data  (persistente Keycloak-Daten)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137 </a:t>
            </a:r>
            <a:r>
              <a:rPr b="0" lang="de-DE" sz="800" spc="-1" strike="noStrike">
                <a:solidFill>
                  <a:srgbClr val="22863a"/>
                </a:solidFill>
                <a:latin typeface="Consolas"/>
              </a:rPr>
              <a:t>volumes: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888888"/>
                </a:solidFill>
                <a:latin typeface="Consolas"/>
              </a:rPr>
              <a:t>138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032f62"/>
                </a:solidFill>
                <a:latin typeface="Consolas"/>
              </a:rPr>
              <a:t>mariadb-data: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00" spc="-1" strike="noStrike">
                <a:solidFill>
                  <a:srgbClr val="28a745"/>
                </a:solidFill>
                <a:latin typeface="Consolas"/>
              </a:rPr>
              <a:t>139+ 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800" spc="-1" strike="noStrike">
                <a:solidFill>
                  <a:srgbClr val="006400"/>
                </a:solidFill>
                <a:latin typeface="Consolas"/>
              </a:rPr>
              <a:t>keycloak_data</a:t>
            </a:r>
            <a:r>
              <a:rPr b="0" lang="de-DE" sz="800" spc="-1" strike="noStrike">
                <a:solidFill>
                  <a:srgbClr val="383a42"/>
                </a:solidFill>
                <a:latin typeface="Consolas"/>
              </a:rPr>
              <a:t>:    </a:t>
            </a:r>
            <a:r>
              <a:rPr b="0" lang="de-DE" sz="800" spc="-1" strike="noStrike">
                <a:solidFill>
                  <a:srgbClr val="6a737d"/>
                </a:solidFill>
                <a:latin typeface="Consolas"/>
              </a:rPr>
              <a:t># Keycloak persistente Daten</a:t>
            </a:r>
            <a:endParaRPr b="0" lang="de-DE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LeftCode"/>
          <p:cNvSpPr/>
          <p:nvPr/>
        </p:nvSpPr>
        <p:spPr>
          <a:xfrm>
            <a:off x="191520" y="797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ightCode"/>
          <p:cNvSpPr/>
          <p:nvPr/>
        </p:nvSpPr>
        <p:spPr>
          <a:xfrm>
            <a:off x="4713480" y="797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FooterBar"/>
          <p:cNvSpPr/>
          <p:nvPr/>
        </p:nvSpPr>
        <p:spPr>
          <a:xfrm>
            <a:off x="360" y="524736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Keycloak IAM  ·  OIDC Authorization Code Flow  ·  Port 8443:8080  ·  Realm-Import: iot-realm.json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Keycloak &gt;  iot-realm.json &gt; Realm-Konfiguration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CodeBG"/>
          <p:cNvSpPr/>
          <p:nvPr/>
        </p:nvSpPr>
        <p:spPr>
          <a:xfrm>
            <a:off x="100080" y="525960"/>
            <a:ext cx="8943480" cy="4617720"/>
          </a:xfrm>
          <a:prstGeom prst="rect">
            <a:avLst/>
          </a:prstGeom>
          <a:solidFill>
            <a:srgbClr val="f6f8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Realm Grundeinstellungen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 </a:t>
            </a:r>
            <a:r>
              <a:rPr b="0" lang="de-DE" sz="950" spc="-1" strike="noStrike">
                <a:solidFill>
                  <a:srgbClr val="24292e"/>
                </a:solidFill>
                <a:latin typeface="Consolas"/>
              </a:rPr>
              <a:t>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"realm"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"iot"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"sslRequired"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"all"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"registrationAllowed"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Rollen-Definition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"roles"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7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"realm"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{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"dashboard-user"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},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9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{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"admin-user"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},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10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{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"controller-ingest"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}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11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]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},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Rolle → Berechtigung (Zuordnung)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0366d6"/>
                </a:solidFill>
                <a:latin typeface="Consolas"/>
              </a:rPr>
              <a:t>dashboard-user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→  Dashboard lesen  (GET /api/sensordata)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0366d6"/>
                </a:solidFill>
                <a:latin typeface="Consolas"/>
              </a:rPr>
              <a:t>admin-user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→  Admin-Funktionen  (Verwaltung)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0366d6"/>
                </a:solidFill>
                <a:latin typeface="Consolas"/>
              </a:rPr>
              <a:t>controller-ingest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→  Sensordaten schreiben  (POST /api/internal/sensordata)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ode"/>
          <p:cNvSpPr/>
          <p:nvPr/>
        </p:nvSpPr>
        <p:spPr>
          <a:xfrm>
            <a:off x="191520" y="761400"/>
            <a:ext cx="464400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Annotations"/>
          <p:cNvSpPr/>
          <p:nvPr/>
        </p:nvSpPr>
        <p:spPr>
          <a:xfrm>
            <a:off x="5044320" y="761400"/>
            <a:ext cx="399960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Realm-Name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Realm aktiv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SSL für alle Verbindungen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Selbstregistrierung deaktiviert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Lese-Zugriff Dashboard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Admin-Zugriff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Sensor-Daten schreiben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FooterBar"/>
          <p:cNvSpPr/>
          <p:nvPr/>
        </p:nvSpPr>
        <p:spPr>
          <a:xfrm>
            <a:off x="0" y="519984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dashboard-user → lesen  ·  admin-user → Admin  ·  controller-ingest → schreiben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Keycloak &gt;  iot-realm.json &gt;  Benutzer-Konfiguration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CodeBG"/>
          <p:cNvSpPr/>
          <p:nvPr/>
        </p:nvSpPr>
        <p:spPr>
          <a:xfrm>
            <a:off x="100080" y="525960"/>
            <a:ext cx="8943480" cy="4617720"/>
          </a:xfrm>
          <a:prstGeom prst="rect">
            <a:avLst/>
          </a:prstGeom>
          <a:solidFill>
            <a:srgbClr val="f6f8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Benutzer 1: iotuser01  (Mensch — Dashboard-Zugriff)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"users"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 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15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"username"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"iotuser01"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17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"emailVerified"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"firstName"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"James"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19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"lastName"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"Cookie"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20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"credentials"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"type"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"password"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"value"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"password"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24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"temporary"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}],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27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"realmRoles"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"dashboard-user"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"admin-user"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]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},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Benutzer 2: service-account-controller-client  (Maschine — Controller)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29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30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"username"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"service-account-controller-client"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31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"serviceAccountClientId"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"controller-client"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"realmRoles"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"controller-ingest"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]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34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}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35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],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ode"/>
          <p:cNvSpPr/>
          <p:nvPr/>
        </p:nvSpPr>
        <p:spPr>
          <a:xfrm>
            <a:off x="191520" y="761400"/>
            <a:ext cx="464400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Annotations"/>
          <p:cNvSpPr/>
          <p:nvPr/>
        </p:nvSpPr>
        <p:spPr>
          <a:xfrm>
            <a:off x="5044320" y="761400"/>
            <a:ext cx="399960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Login-Name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⚠ </a:t>
            </a: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Nur für Entwicklung!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Benutzerrollen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Service-Account (kein Mensch)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Verknüpft mit Client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Nur Schreib-Rolle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FooterBar"/>
          <p:cNvSpPr/>
          <p:nvPr/>
        </p:nvSpPr>
        <p:spPr>
          <a:xfrm>
            <a:off x="55440" y="523152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iotuser01: dashboard-user + admin-user  ·  service-account: controller-ingest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Keycloak &gt;  iot-realm.json &gt;  Client-Konfiguration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CodeBG"/>
          <p:cNvSpPr/>
          <p:nvPr/>
        </p:nvSpPr>
        <p:spPr>
          <a:xfrm>
            <a:off x="66240" y="526320"/>
            <a:ext cx="8943480" cy="4617360"/>
          </a:xfrm>
          <a:prstGeom prst="rect">
            <a:avLst/>
          </a:prstGeom>
          <a:solidFill>
            <a:srgbClr val="f6f8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Client 1: dashboard-client  (Browser → OIDC Authorization Code Flow)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"clients"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 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"clientId"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"dashboard-client"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39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40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"protocol"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"openid-connect"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41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"publicClient"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"standardFlowEnabled"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"directAccessGrantsEnabled"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44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"serviceAccountsEnabled"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45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"redirectUris"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[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"https://www.lab.local/*"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47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]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},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i="1" lang="de-DE" sz="900" spc="-1" strike="noStrike">
                <a:solidFill>
                  <a:srgbClr val="0366d6"/>
                </a:solidFill>
                <a:latin typeface="Consolas"/>
              </a:rPr>
              <a:t>// Client 2: controller-client  (Maschine → Client Credentials Flow)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49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{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50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"clientId"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"controller-client"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51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52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"protocol"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"openid-connect"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53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"publicClient"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54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"standardFlowEnabled"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55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"directAccessGrantsEnabled"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false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56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"serviceAccountsEnabled"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05cc5"/>
                </a:solidFill>
                <a:latin typeface="Consolas"/>
              </a:rPr>
              <a:t>true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57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50" spc="-1" strike="noStrike">
                <a:solidFill>
                  <a:srgbClr val="d73a49"/>
                </a:solidFill>
                <a:latin typeface="Consolas"/>
              </a:rPr>
              <a:t>"secret"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: </a:t>
            </a:r>
            <a:r>
              <a:rPr b="0" lang="de-DE" sz="950" spc="-1" strike="noStrike">
                <a:solidFill>
                  <a:srgbClr val="032f62"/>
                </a:solidFill>
                <a:latin typeface="Consolas"/>
              </a:rPr>
              <a:t>"change-me-please"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58 </a:t>
            </a:r>
            <a:r>
              <a:rPr b="0" lang="de-DE" sz="950" spc="-1" strike="noStrike">
                <a:solidFill>
                  <a:srgbClr val="383a42"/>
                </a:solidFill>
                <a:latin typeface="Consolas"/>
              </a:rPr>
              <a:t>  }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  </a:t>
            </a:r>
            <a:r>
              <a:rPr b="0" lang="de-DE" sz="900" spc="-1" strike="noStrike">
                <a:solidFill>
                  <a:srgbClr val="aaaaaa"/>
                </a:solidFill>
                <a:latin typeface="Consolas"/>
              </a:rPr>
              <a:t>59 </a:t>
            </a:r>
            <a:r>
              <a:rPr b="0" lang="de-DE" sz="950" spc="-1" strike="noStrike">
                <a:solidFill>
                  <a:srgbClr val="24292e"/>
                </a:solidFill>
                <a:latin typeface="Consolas"/>
              </a:rPr>
              <a:t>]</a:t>
            </a:r>
            <a:endParaRPr b="0" lang="de-DE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ode"/>
          <p:cNvSpPr/>
          <p:nvPr/>
        </p:nvSpPr>
        <p:spPr>
          <a:xfrm>
            <a:off x="47520" y="401400"/>
            <a:ext cx="493596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Annotations"/>
          <p:cNvSpPr/>
          <p:nvPr/>
        </p:nvSpPr>
        <p:spPr>
          <a:xfrm>
            <a:off x="5417280" y="761400"/>
            <a:ext cx="3999600" cy="58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Frontend-Client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Kein Secret (Browser-App)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Auth-Code Flow (PKCE)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Erlaubte Redirect-URL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IoT Controller (Backend)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Confidential Client (hat Secret)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Kein Auth-Code Flow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Client-Credentials Flow aktiv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⚠ </a:t>
            </a:r>
            <a:r>
              <a:rPr b="0" i="1" lang="de-DE" sz="850" spc="-1" strike="noStrike">
                <a:solidFill>
                  <a:srgbClr val="586069"/>
                </a:solidFill>
                <a:latin typeface="Calibri"/>
              </a:rPr>
              <a:t>In Produktion ersetzen!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ooterBar"/>
          <p:cNvSpPr/>
          <p:nvPr/>
        </p:nvSpPr>
        <p:spPr>
          <a:xfrm>
            <a:off x="47520" y="524736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dashboard-client: Auth-Code Flow (PKCE)  ·  controller-client: Client-Credentials Flow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279360" y="3065040"/>
            <a:ext cx="1009440" cy="1199880"/>
          </a:xfrm>
          <a:prstGeom prst="smileyFace">
            <a:avLst>
              <a:gd name="adj" fmla="val 928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Google Shape;78;p 5"/>
          <p:cNvSpPr/>
          <p:nvPr/>
        </p:nvSpPr>
        <p:spPr>
          <a:xfrm>
            <a:off x="1433160" y="1319040"/>
            <a:ext cx="5794920" cy="217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server.js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035800" y="1852920"/>
            <a:ext cx="1466640" cy="323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Read API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380920" y="1785960"/>
            <a:ext cx="1466640" cy="3236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Write API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76;p 1"/>
          <p:cNvSpPr/>
          <p:nvPr/>
        </p:nvSpPr>
        <p:spPr>
          <a:xfrm>
            <a:off x="2199960" y="2500200"/>
            <a:ext cx="1257840" cy="7045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DB-Login db_read_user [SELECT]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76;p 5"/>
          <p:cNvSpPr/>
          <p:nvPr/>
        </p:nvSpPr>
        <p:spPr>
          <a:xfrm>
            <a:off x="5188320" y="2338200"/>
            <a:ext cx="1754280" cy="74268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DB-Login db_write_user [INSERT, UPDATE]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781080" y="3795480"/>
            <a:ext cx="1323720" cy="904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MariaDB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798360" y="3633480"/>
            <a:ext cx="1306440" cy="295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Google Shape;2891;p 1"/>
          <p:cNvSpPr/>
          <p:nvPr/>
        </p:nvSpPr>
        <p:spPr>
          <a:xfrm>
            <a:off x="7725960" y="1737000"/>
            <a:ext cx="1274040" cy="4273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Controller.py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>
            <a:off x="6847920" y="1957320"/>
            <a:ext cx="878040" cy="3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6104160" y="2109960"/>
            <a:ext cx="360" cy="2282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5164920" y="3175200"/>
            <a:ext cx="835920" cy="10371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 flipH="1" flipV="1">
            <a:off x="2857680" y="3259800"/>
            <a:ext cx="867600" cy="7938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 flipV="1">
            <a:off x="2767320" y="2176560"/>
            <a:ext cx="0" cy="3236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1115640" y="2176560"/>
            <a:ext cx="1054080" cy="97308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Title 2"/>
          <p:cNvSpPr txBox="1"/>
          <p:nvPr/>
        </p:nvSpPr>
        <p:spPr>
          <a:xfrm>
            <a:off x="-330120" y="-257760"/>
            <a:ext cx="9744840" cy="1799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algn="ctr">
              <a:lnSpc>
                <a:spcPct val="120000"/>
              </a:lnSpc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🗄️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MariaDB Least Privilege DB-User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781080" y="4564800"/>
            <a:ext cx="1306440" cy="295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docker-compose.yml  &gt; Separate DB-Credentials + Keycloak Dependency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docker-compose.yml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docker-compose.yml  (after)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webapp: environment  —  Split single credential → separate read/write credentials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environment: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DB_HOST=mariadb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8-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DB_USER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=websrv_write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9-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DB_PASSWORD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=pass-0123-iot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10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DB_NAME=myapp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11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PORT=3000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12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API_KEY=api_key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webapp: depends_on  —  Add keycloak_web health check dependency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13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depends_on: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db: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15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condition: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service_healthy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db: volumes  —  Named volume + consolidated init scripts mount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29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volumes: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31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/mariadb/db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:/var/lib/mysql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32-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/mariadb/01_config.sql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:/docker-entrypoint-initdb.d/1.sql:ro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33-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/mariadb/02_archive_job.sql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:/docker-entrypoint-initdb.d/2.sql:ro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34-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/mariadb/03_user.sql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:/docker-entrypoint-initdb.d/3.sql:ro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35-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/mariadb/04_training_data.sql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:/docker-entrypoint-initdb.d/4.sql:ro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36-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/mariadb/05_training_data_privileges.sql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:/docker-entrypoint-initdb.d/…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Removed Added Split DB credentials · Add Keycloak dependency · Named volume + consolidated init mount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webapp: environment  —  Split single credential → separate read/write credentials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environment: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DB_HOST=mariadb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DB_WRITE_USER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=websrv_write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DB_WRITE_PASSWORD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=pass-0123-iot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DB_READ_PASSWORD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=pass-0123-client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12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DB_NAME=myapp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13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PORT=3000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API_KEY=api_key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PUBLIC_DIR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=app_net/public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webapp: depends_on  —  Add keycloak_web health check dependency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depends_on: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17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db: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18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condition: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service_healthy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keycloak_web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condition: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service_healthy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db: volumes  —  Named volume + consolidated init scripts mount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22863a"/>
                </a:solidFill>
                <a:latin typeface="Consolas"/>
              </a:rPr>
              <a:t>volumes: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mariadb-data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:/var/lib/mysql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</a:t>
            </a:r>
            <a:r>
              <a:rPr b="0" lang="de-DE" sz="900" spc="-1" strike="noStrike">
                <a:solidFill>
                  <a:srgbClr val="e36209"/>
                </a:solidFill>
                <a:latin typeface="Consolas"/>
              </a:rPr>
              <a:t>-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./mariadb</a:t>
            </a:r>
            <a:r>
              <a:rPr b="0" lang="de-DE" sz="900" spc="-1" strike="noStrike">
                <a:solidFill>
                  <a:srgbClr val="032f62"/>
                </a:solidFill>
                <a:latin typeface="Consolas"/>
              </a:rPr>
              <a:t>:/docker-entrypoint-initdb.d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FooterBar"/>
          <p:cNvSpPr/>
          <p:nvPr/>
        </p:nvSpPr>
        <p:spPr>
          <a:xfrm>
            <a:off x="0" y="5231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Split DB credentials  ·  Add Keycloak dependency  ·  Named volume + consolidated init mount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mariadb  &gt; 06_db_read_user &gt;  ...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Breadcrumb"/>
          <p:cNvSpPr/>
          <p:nvPr/>
        </p:nvSpPr>
        <p:spPr>
          <a:xfrm>
            <a:off x="100080" y="470160"/>
            <a:ext cx="89434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QLCode"/>
          <p:cNvSpPr/>
          <p:nvPr/>
        </p:nvSpPr>
        <p:spPr>
          <a:xfrm>
            <a:off x="100080" y="734040"/>
            <a:ext cx="4461480" cy="3499560"/>
          </a:xfrm>
          <a:prstGeom prst="rect">
            <a:avLst/>
          </a:prstGeom>
          <a:solidFill>
            <a:srgbClr val="f6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b="0" lang="de-DE" sz="1300" spc="-1" strike="noStrike">
                <a:solidFill>
                  <a:srgbClr val="666666"/>
                </a:solidFill>
                <a:latin typeface="Consolas"/>
              </a:rPr>
              <a:t>1</a:t>
            </a:r>
            <a:r>
              <a:rPr b="0" lang="de-DE" sz="1300" spc="-1" strike="noStrike">
                <a:solidFill>
                  <a:srgbClr val="d73a49"/>
                </a:solidFill>
                <a:latin typeface="Consolas"/>
              </a:rPr>
              <a:t>  CREATE OR REPLACE USER 'websrv_read'@'%'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r>
              <a:rPr b="0" lang="de-DE" sz="1300" spc="-1" strike="noStrike">
                <a:solidFill>
                  <a:srgbClr val="666666"/>
                </a:solidFill>
                <a:latin typeface="Consolas"/>
              </a:rPr>
              <a:t>2</a:t>
            </a:r>
            <a:r>
              <a:rPr b="0" lang="de-DE" sz="1300" spc="-1" strike="noStrike">
                <a:solidFill>
                  <a:srgbClr val="000000"/>
                </a:solidFill>
                <a:latin typeface="Consolas"/>
              </a:rPr>
              <a:t>  IDENTIFIED BY 'pass-0123-client';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r>
              <a:rPr b="0" lang="de-DE" sz="1300" spc="-1" strike="noStrike">
                <a:solidFill>
                  <a:srgbClr val="666666"/>
                </a:solidFill>
                <a:latin typeface="Consolas"/>
              </a:rPr>
              <a:t>3</a:t>
            </a:r>
            <a:r>
              <a:rPr b="0" lang="de-DE" sz="1300" spc="-1" strike="noStrike">
                <a:solidFill>
                  <a:srgbClr val="d73a49"/>
                </a:solidFill>
                <a:latin typeface="Consolas"/>
              </a:rPr>
              <a:t>  GRANT SELECT ON myapp.sensor_data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r>
              <a:rPr b="0" lang="de-DE" sz="1300" spc="-1" strike="noStrike">
                <a:solidFill>
                  <a:srgbClr val="666666"/>
                </a:solidFill>
                <a:latin typeface="Consolas"/>
              </a:rPr>
              <a:t>4</a:t>
            </a:r>
            <a:r>
              <a:rPr b="0" lang="de-DE" sz="1300" spc="-1" strike="noStrike">
                <a:solidFill>
                  <a:srgbClr val="000000"/>
                </a:solidFill>
                <a:latin typeface="Consolas"/>
              </a:rPr>
              <a:t>  TO 'websrv_read'@'%';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r>
              <a:rPr b="0" lang="de-DE" sz="1300" spc="-1" strike="noStrike">
                <a:solidFill>
                  <a:srgbClr val="666666"/>
                </a:solidFill>
                <a:latin typeface="Consolas"/>
              </a:rPr>
              <a:t>5</a:t>
            </a:r>
            <a:r>
              <a:rPr b="0" lang="de-DE" sz="1300" spc="-1" strike="noStrike">
                <a:solidFill>
                  <a:srgbClr val="d73a49"/>
                </a:solidFill>
                <a:latin typeface="Consolas"/>
              </a:rPr>
              <a:t>  FLUSH PRIVILEGES;</a:t>
            </a:r>
            <a:endParaRPr b="0" lang="de-DE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FooterBar"/>
          <p:cNvSpPr/>
          <p:nvPr/>
        </p:nvSpPr>
        <p:spPr>
          <a:xfrm>
            <a:off x="0" y="527544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Write ops use getWritePool()  ·  Read ops use getReadPool()  ·  Principle of least privilege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olHeader 1"/>
          <p:cNvSpPr/>
          <p:nvPr/>
        </p:nvSpPr>
        <p:spPr>
          <a:xfrm>
            <a:off x="122040" y="44784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06_db_read_user (neu)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app-net  &gt;  config  &gt;  js  database.js  &gt;  ...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database.js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database.js  (after)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  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require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('dotenv')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.config();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// use .env file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HOST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PORT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||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3000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 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DB_HOST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DB_HOST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4-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DB_USER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DB_USER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5-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DB_PASSWORD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DB_PASSWORD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6 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DB_NAME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DB_NAME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7-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let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9-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async function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10-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(!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11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mariadb = await import(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'mariadb'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12-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       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mariadb.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createPool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13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host: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DB_HOST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14-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user: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DB_USER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15-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password: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DB_PASSWORD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database: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DB_NAME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17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connectionLimit: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5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18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19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20-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return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21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 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require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('dotenv')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.config();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// use .env file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DB_HOST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DB_HOST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DB_WRITE_USER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DB_WRITE_USER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DB_WRITE_PASSWORD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DB_WRITE_PASSWORD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DB_READ_USER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DB_READ_USER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DB_READ_PASSWORD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DB_READ_PASSWORD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DB_NAME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DB_NAME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let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let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11+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async function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getWritePool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(!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13+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mariadb = await import(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'mariadb'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14+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        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mariadb.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createPool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host: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DB_HOST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user: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DB_WRITE_USER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password: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DB_WRITE_PASSWORD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database: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DB_NAME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connectionLimit: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5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return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23+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FooterBar"/>
          <p:cNvSpPr/>
          <p:nvPr/>
        </p:nvSpPr>
        <p:spPr>
          <a:xfrm>
            <a:off x="0" y="527724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Refactor: single pool → separate read/write pools (principle of least privilege)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Bar 6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app-net  &gt;  config  &gt;  js  database.js  &gt;  ...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olHeader 9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database.js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olHeader 10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database.js  (after)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CodeBG 9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23-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module.exports = { </a:t>
            </a:r>
            <a:r>
              <a:rPr b="0" lang="de-DE" sz="900" spc="-1" strike="noStrike">
                <a:solidFill>
                  <a:srgbClr val="ff4444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};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odeBG 10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25+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async function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getReadPool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(!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27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mariadb = await import(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'mariadb'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28+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        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mariadb.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createPool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29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host: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DB_HOST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user: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DB_READ_USER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password: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DB_READ_PASSWORD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32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database: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DB_NAME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33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connectionLimit: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5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35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return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37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module.exports = {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getWritePool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</a:t>
            </a:r>
            <a:r>
              <a:rPr b="0" lang="de-DE" sz="900" spc="-1" strike="noStrike">
                <a:solidFill>
                  <a:srgbClr val="228b22"/>
                </a:solidFill>
                <a:latin typeface="Consolas"/>
              </a:rPr>
              <a:t>getReadPool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};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LeftCode 5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ightCode 5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FooterBar 5"/>
          <p:cNvSpPr/>
          <p:nvPr/>
        </p:nvSpPr>
        <p:spPr>
          <a:xfrm>
            <a:off x="0" y="532512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Refactor: single pool →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separate read/write pools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(principle of least privilege)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app-net  &gt;  server.js  &gt;  ...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ColHeader"/>
          <p:cNvSpPr/>
          <p:nvPr/>
        </p:nvSpPr>
        <p:spPr>
          <a:xfrm>
            <a:off x="100080" y="479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server.js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olHeader"/>
          <p:cNvSpPr/>
          <p:nvPr/>
        </p:nvSpPr>
        <p:spPr>
          <a:xfrm>
            <a:off x="4622040" y="479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server.js  (after)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odeBG"/>
          <p:cNvSpPr/>
          <p:nvPr/>
        </p:nvSpPr>
        <p:spPr>
          <a:xfrm>
            <a:off x="100080" y="741960"/>
            <a:ext cx="4421520" cy="4401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Import: destructured pool functions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 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require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('dotenv')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.config();  </a:t>
            </a:r>
            <a:r>
              <a:rPr b="0" lang="de-DE" sz="900" spc="-1" strike="noStrike">
                <a:solidFill>
                  <a:srgbClr val="a0a1a7"/>
                </a:solidFill>
                <a:latin typeface="Consolas"/>
              </a:rPr>
              <a:t>// use .env file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express = require(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'express'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4-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const {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} = require(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'./config/database'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5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PORT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PORT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||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3000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POST /api/internal/sensordata  — write operation → getWritePool()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if (!temperature) throw Error(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"Denied: 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46-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47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POST /api/internal/trainingdata  — write operation → getWritePool()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72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if (!temperature) throw Error(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"Denied: 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73-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④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GET /api/internal/sensordata/latest  — read operation → getReadPool()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95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try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96-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getPool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99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100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sql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 = "SELECT * FROM sensor_data ORDER BY timestamp…"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odeBG"/>
          <p:cNvSpPr/>
          <p:nvPr/>
        </p:nvSpPr>
        <p:spPr>
          <a:xfrm>
            <a:off x="4622040" y="741960"/>
            <a:ext cx="4421520" cy="4401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Import: destructured pool functions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1 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require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('dotenv')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.config();  </a:t>
            </a:r>
            <a:r>
              <a:rPr b="0" lang="de-DE" sz="900" spc="-1" strike="noStrike">
                <a:solidFill>
                  <a:srgbClr val="a0a1a7"/>
                </a:solidFill>
                <a:latin typeface="Consolas"/>
              </a:rPr>
              <a:t>// use .env file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2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express = require(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'express'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const {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} = require(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'./config/database'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5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PORT = process.env.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PORT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|| </a:t>
            </a:r>
            <a:r>
              <a:rPr b="0" lang="de-DE" sz="900" spc="-1" strike="noStrike">
                <a:solidFill>
                  <a:srgbClr val="e06c75"/>
                </a:solidFill>
                <a:latin typeface="Consolas"/>
              </a:rPr>
              <a:t>3000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POST /api/internal/sensordata  — write operation → getWritePool()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if (!temperature) throw Error(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"Denied: 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45+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46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POST /api/internal/trainingdata  — write operation → getWritePool()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71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if (!temperature) throw Error(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"Denied: 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 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72+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getWritePool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73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④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GET /api/internal/sensordata/latest  — read operation → getReadPool()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94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try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95+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pool = await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getReadPool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98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conn = await pool.</a:t>
            </a:r>
            <a:r>
              <a:rPr b="0" lang="de-DE" sz="900" spc="-1" strike="noStrike">
                <a:solidFill>
                  <a:srgbClr val="4078f2"/>
                </a:solidFill>
                <a:latin typeface="Consolas"/>
              </a:rPr>
              <a:t>getConnection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99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       const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sql</a:t>
            </a:r>
            <a:r>
              <a:rPr b="0" lang="de-DE" sz="900" spc="-1" strike="noStrike">
                <a:solidFill>
                  <a:srgbClr val="50a14f"/>
                </a:solidFill>
                <a:latin typeface="Consolas"/>
              </a:rPr>
              <a:t> = "SELECT * FROM sensor_data ORDER BY timestamp DESC LIMIT 1"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FooterBar"/>
          <p:cNvSpPr/>
          <p:nvPr/>
        </p:nvSpPr>
        <p:spPr>
          <a:xfrm>
            <a:off x="0" y="5384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Write ops use getWritePool()  ·  Read ops use getReadPool()  ·  Principle of least privilege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70;p 4"/>
          <p:cNvSpPr/>
          <p:nvPr/>
        </p:nvSpPr>
        <p:spPr>
          <a:xfrm>
            <a:off x="312120" y="498240"/>
            <a:ext cx="4369680" cy="1498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Containe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r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External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2;p 4"/>
          <p:cNvSpPr/>
          <p:nvPr/>
        </p:nvSpPr>
        <p:spPr>
          <a:xfrm>
            <a:off x="2743200" y="1189800"/>
            <a:ext cx="155160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Docker-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Bridge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'sensor-net'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76;p 4"/>
          <p:cNvSpPr/>
          <p:nvPr/>
        </p:nvSpPr>
        <p:spPr>
          <a:xfrm>
            <a:off x="509040" y="1182960"/>
            <a:ext cx="176436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Client 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(Produktion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Netz)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78;p 4"/>
          <p:cNvSpPr/>
          <p:nvPr/>
        </p:nvSpPr>
        <p:spPr>
          <a:xfrm>
            <a:off x="204480" y="2563920"/>
            <a:ext cx="8683560" cy="192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Backend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Server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79;p 4"/>
          <p:cNvSpPr/>
          <p:nvPr/>
        </p:nvSpPr>
        <p:spPr>
          <a:xfrm>
            <a:off x="3805200" y="56520"/>
            <a:ext cx="274248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0" name="Google Shape;80;p 4"/>
          <p:cNvSpPr/>
          <p:nvPr/>
        </p:nvSpPr>
        <p:spPr>
          <a:xfrm>
            <a:off x="556200" y="3622680"/>
            <a:ext cx="146340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nginx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(Reverse Proxy)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82;p 4"/>
          <p:cNvSpPr/>
          <p:nvPr/>
        </p:nvSpPr>
        <p:spPr>
          <a:xfrm>
            <a:off x="4620960" y="348120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server.js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(node.js)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83;p 4"/>
          <p:cNvSpPr/>
          <p:nvPr/>
        </p:nvSpPr>
        <p:spPr>
          <a:xfrm>
            <a:off x="4834080" y="1648080"/>
            <a:ext cx="123372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Google Shape;84;p 4"/>
          <p:cNvSpPr/>
          <p:nvPr/>
        </p:nvSpPr>
        <p:spPr>
          <a:xfrm>
            <a:off x="2461320" y="2962440"/>
            <a:ext cx="146304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keyCloak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(AuthN/AuthZ))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86;p 4"/>
          <p:cNvSpPr/>
          <p:nvPr/>
        </p:nvSpPr>
        <p:spPr>
          <a:xfrm>
            <a:off x="7016400" y="306396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MariaDB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(Database)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90;p 4"/>
          <p:cNvSpPr/>
          <p:nvPr/>
        </p:nvSpPr>
        <p:spPr>
          <a:xfrm>
            <a:off x="2576520" y="3877200"/>
            <a:ext cx="11998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HTTPS:344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91;p 4"/>
          <p:cNvSpPr/>
          <p:nvPr/>
        </p:nvSpPr>
        <p:spPr>
          <a:xfrm>
            <a:off x="1722600" y="299016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93;p 4"/>
          <p:cNvSpPr/>
          <p:nvPr/>
        </p:nvSpPr>
        <p:spPr>
          <a:xfrm>
            <a:off x="4160520" y="281520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AuthZ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96;p 4"/>
          <p:cNvSpPr/>
          <p:nvPr/>
        </p:nvSpPr>
        <p:spPr>
          <a:xfrm>
            <a:off x="6177600" y="3686400"/>
            <a:ext cx="1028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SQL &amp; TLS :3306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97;p 4"/>
          <p:cNvSpPr/>
          <p:nvPr/>
        </p:nvSpPr>
        <p:spPr>
          <a:xfrm>
            <a:off x="1263600" y="2132280"/>
            <a:ext cx="2345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(AuthN, AuthZ,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RESTful API)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 flipH="1">
            <a:off x="1130400" y="1996920"/>
            <a:ext cx="25200" cy="16257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 flipV="1">
            <a:off x="5854680" y="3312360"/>
            <a:ext cx="1161720" cy="3744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2019600" y="3725280"/>
            <a:ext cx="2601360" cy="11628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"/>
          <p:cNvSpPr/>
          <p:nvPr/>
        </p:nvSpPr>
        <p:spPr>
          <a:xfrm>
            <a:off x="3924360" y="3206520"/>
            <a:ext cx="686160" cy="38268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" name=""/>
          <p:cNvSpPr/>
          <p:nvPr/>
        </p:nvSpPr>
        <p:spPr>
          <a:xfrm flipH="1">
            <a:off x="2019600" y="3300120"/>
            <a:ext cx="426960" cy="4251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Title 4"/>
          <p:cNvSpPr txBox="1"/>
          <p:nvPr/>
        </p:nvSpPr>
        <p:spPr>
          <a:xfrm>
            <a:off x="4398480" y="359280"/>
            <a:ext cx="5209560" cy="1799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algn="ctr">
              <a:lnSpc>
                <a:spcPct val="120000"/>
              </a:lnSpc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🛡️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server.js AuthN/AuthZ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app-net  &gt; server.js  &gt; JWKS-Client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[Teil 1/2]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 </a:t>
            </a: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server.js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Imports  —  https + jwks-rsa + jsonwebtoken + KC_JWKS_URI / KC_BASE_URL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const {getReadPool, getWritePool} = require('./config/database');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5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const PORT = process.env.PORT || 3000;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JWKS-Client  —  Signing-Key von Keycloak via jwks-rsa abrufen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Imports  —  https + jwks-rsa + jsonwebtoken + KC_JWKS_URI / KC_BASE_URL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4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const {getReadPool, getWritePool} = require('./config/database');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5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const PORT = process.env.PORT || 3000;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https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require(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'https'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11+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jwksClient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require(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'jwks-rsa'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12+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jwt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require(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'jsonwebtoken'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14+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KC_JWKS_URI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process.env.KC_JWKS_URI;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JWKS-Client  —  Signing-Key von Keycloak via jwks-rsa abrufen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17+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client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jwksClient({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jwksUri: KC_JWKS_URI,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requestAgent: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new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https.Agent({ ca: undefined, rejectUnauthorized: true }),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23+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25+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getKey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(header, callback) =&gt;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client.getSigningKey(header.kid, (err, key) =&gt;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signingKey = key.getPublicKey();  callback(null, signingKey);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33+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});  // end getKey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FooterBar"/>
          <p:cNvSpPr/>
          <p:nvPr/>
        </p:nvSpPr>
        <p:spPr>
          <a:xfrm>
            <a:off x="0" y="6707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JWKS-Client  ·  authenticateToken Middleware  ·  JWT-Verify  ·  Audience + Rollen-Check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Bar 5"/>
          <p:cNvSpPr/>
          <p:nvPr/>
        </p:nvSpPr>
        <p:spPr>
          <a:xfrm>
            <a:off x="-142920" y="0"/>
            <a:ext cx="938988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app-net  &gt; server.js  &gt; </a:t>
            </a:r>
            <a:r>
              <a:rPr b="1" lang="de-DE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authenticateToken-Middleware (JWT </a:t>
            </a:r>
            <a:r>
              <a:rPr b="1" lang="de-DE" sz="1800" spc="-1" strike="noStrike">
                <a:solidFill>
                  <a:srgbClr val="ffffff"/>
                </a:solidFill>
                <a:latin typeface="Calibri"/>
                <a:ea typeface="Noto Sans CJK SC"/>
              </a:rPr>
              <a:t>AuthZ)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[Teil 2/2]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olHeader 7"/>
          <p:cNvSpPr/>
          <p:nvPr/>
        </p:nvSpPr>
        <p:spPr>
          <a:xfrm>
            <a:off x="277560" y="551880"/>
            <a:ext cx="846216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 </a:t>
            </a: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server.js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ColHeader 8"/>
          <p:cNvSpPr/>
          <p:nvPr/>
        </p:nvSpPr>
        <p:spPr>
          <a:xfrm>
            <a:off x="291960" y="1682280"/>
            <a:ext cx="84391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odeBG 7"/>
          <p:cNvSpPr/>
          <p:nvPr/>
        </p:nvSpPr>
        <p:spPr>
          <a:xfrm>
            <a:off x="291960" y="813960"/>
            <a:ext cx="8391600" cy="73044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Neue Middleware authenticateToken  —  Bearer-Check → JWT-Verify → Audience → Rolle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CodeBG 8"/>
          <p:cNvSpPr/>
          <p:nvPr/>
        </p:nvSpPr>
        <p:spPr>
          <a:xfrm>
            <a:off x="256680" y="1953360"/>
            <a:ext cx="8498520" cy="301536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Neue Middleware authenticateToken  —  Bearer-Check → JWT-Verify → Audience → Rolle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const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authenticateToken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= (req, res, next) =&gt;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const authHeader = req.headers.authorization || "";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(!authHeader.startsWith("Bearer ")) return res.sendStatus(401);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const token = authHeader.split(" ")[1];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jwt.verify(token, getKey, validationOptions, (err, decodedPayload) =&gt;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if (err) return res.status(403).json({ error: "Forbidden",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    message: "Token verification failed (signature, expiration or issuer invalid)." 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expectedAudience = 'dashboard-client';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audienceOk = (azp === expectedAudience) || (aud === expectedAudience) || Array.isArray(aud)…;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if (!audienceOk) return res.status(403).json({ error: `Audience '${expectedAudience}' missing` 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requiredRole = 'dashboard-user';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roles = decodedPayload.realm_access?.roles || [];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if (requiredRole &amp;&amp; !roles.includes(requiredRole)) return res.status(403).json({…});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req.user = decodedPayload;  next();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});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  // end jwt.verify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100+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};  // end authenticateToken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LeftCode 4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ightCode 4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FooterBar 4"/>
          <p:cNvSpPr/>
          <p:nvPr/>
        </p:nvSpPr>
        <p:spPr>
          <a:xfrm>
            <a:off x="0" y="6707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JWKS-Client  ·  authenticateToken Middleware  ·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 JWT-Verify  ·  Audience + Rollen-Check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app-net  &gt; server.js &gt; GET /api/sensordata mit authenticateToken für Dashboard-Chart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server.js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Neuer Endpoint GET /api/sensordata  —  authenticateToken (JWT) statt authenticateApiKey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Vergleich: welcher Endpoint nutzt welche Auth-Middleware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POST /api/internal/sensordata         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authenticateApiKey   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// API-Key (x-api-key)   — Controller schreibt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POST /api/internal/trainingdata       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authenticateApiKey   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// API-Key (x-api-key)   — Controller schreibt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GET  /api/internal/sensordata/latest  </a:t>
            </a:r>
            <a:r>
              <a:rPr b="0" lang="de-DE" sz="900" spc="-1" strike="noStrike">
                <a:solidFill>
                  <a:srgbClr val="61afef"/>
                </a:solidFill>
                <a:latin typeface="Consolas"/>
              </a:rPr>
              <a:t>authenticateApiKey   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// API-Key (x-api-key)   — Controller liest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Neuer Endpoint GET /api/sensordata  —  authenticateToken (JWT) statt authenticateApiKey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206+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// For Dashboard chart</a:t>
            </a: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207+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app.get('/api/sensordata',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authenticateToken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async (req, res) =&gt;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209+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try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pool = await getReadPool();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conn = await pool.getConnection();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214+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sql = "SELECT * FROM sensor_data ORDER BY timestamp DESC";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const rows = await conn.query(sql);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217+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if (rows.length === 0) return res.status(200).json({message: "No data available."});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res.status(200).json(rows[0]);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 catch (err) {  res.status(500).json({error: err.message});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} finally {  if (conn) conn.release();  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226+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});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90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Vergleich: welcher Endpoint nutzt welche Auth-Middleware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POST /api/internal/sensordata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POST /api/internal/trainingdata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GET  /api/internal/sensordata/latest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GET  /api/sensordata                  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FooterBar"/>
          <p:cNvSpPr/>
          <p:nvPr/>
        </p:nvSpPr>
        <p:spPr>
          <a:xfrm>
            <a:off x="0" y="534276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GET /api/sensordata  ·  authenticateToken (JWT) statt authenticateApiKey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889;p 2"/>
          <p:cNvSpPr/>
          <p:nvPr/>
        </p:nvSpPr>
        <p:spPr>
          <a:xfrm>
            <a:off x="689760" y="459000"/>
            <a:ext cx="1713960" cy="1370880"/>
          </a:xfrm>
          <a:prstGeom prst="rect">
            <a:avLst/>
          </a:prstGeom>
          <a:solidFill>
            <a:srgbClr val="fafbfc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Docker-Bridge </a:t>
            </a: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'sensor-net'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890;p 2"/>
          <p:cNvSpPr/>
          <p:nvPr/>
        </p:nvSpPr>
        <p:spPr>
          <a:xfrm>
            <a:off x="4800600" y="411480"/>
            <a:ext cx="16452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" name="Google Shape;2891;p 2"/>
          <p:cNvSpPr/>
          <p:nvPr/>
        </p:nvSpPr>
        <p:spPr>
          <a:xfrm>
            <a:off x="900360" y="1205280"/>
            <a:ext cx="1258920" cy="4273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Controller.p</a:t>
            </a: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y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2892;p 2"/>
          <p:cNvSpPr/>
          <p:nvPr/>
        </p:nvSpPr>
        <p:spPr>
          <a:xfrm>
            <a:off x="4903560" y="706320"/>
            <a:ext cx="11649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" name="Google Shape;78;p 1"/>
          <p:cNvSpPr/>
          <p:nvPr/>
        </p:nvSpPr>
        <p:spPr>
          <a:xfrm>
            <a:off x="635040" y="2768760"/>
            <a:ext cx="7873200" cy="192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Backend Server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80;p 1"/>
          <p:cNvSpPr/>
          <p:nvPr/>
        </p:nvSpPr>
        <p:spPr>
          <a:xfrm>
            <a:off x="698760" y="3863520"/>
            <a:ext cx="149976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nginx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(Reverse Proxy)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82;p 1"/>
          <p:cNvSpPr/>
          <p:nvPr/>
        </p:nvSpPr>
        <p:spPr>
          <a:xfrm>
            <a:off x="5091120" y="386604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server.js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(node.js)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84;p 1"/>
          <p:cNvSpPr/>
          <p:nvPr/>
        </p:nvSpPr>
        <p:spPr>
          <a:xfrm>
            <a:off x="2960280" y="3061440"/>
            <a:ext cx="151668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keyCloak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(AuthN/AuthZ))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86;p 1"/>
          <p:cNvSpPr/>
          <p:nvPr/>
        </p:nvSpPr>
        <p:spPr>
          <a:xfrm>
            <a:off x="7048440" y="316296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MariaDB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(Database)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90;p 1"/>
          <p:cNvSpPr/>
          <p:nvPr/>
        </p:nvSpPr>
        <p:spPr>
          <a:xfrm>
            <a:off x="3273120" y="4298040"/>
            <a:ext cx="121212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HTTPS:344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91;p 1"/>
          <p:cNvSpPr/>
          <p:nvPr/>
        </p:nvSpPr>
        <p:spPr>
          <a:xfrm>
            <a:off x="1854360" y="3303000"/>
            <a:ext cx="1105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93;p 1"/>
          <p:cNvSpPr/>
          <p:nvPr/>
        </p:nvSpPr>
        <p:spPr>
          <a:xfrm>
            <a:off x="4749120" y="323604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AuthZ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96;p 1"/>
          <p:cNvSpPr/>
          <p:nvPr/>
        </p:nvSpPr>
        <p:spPr>
          <a:xfrm>
            <a:off x="6793560" y="3891600"/>
            <a:ext cx="1028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SQL &amp; TLS :3306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97;p 1"/>
          <p:cNvSpPr/>
          <p:nvPr/>
        </p:nvSpPr>
        <p:spPr>
          <a:xfrm>
            <a:off x="1756080" y="2199600"/>
            <a:ext cx="228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(AuthN, AuthZ,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RESTful API)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 flipH="1">
            <a:off x="1439640" y="1632600"/>
            <a:ext cx="52920" cy="223092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5" name=""/>
          <p:cNvSpPr/>
          <p:nvPr/>
        </p:nvSpPr>
        <p:spPr>
          <a:xfrm flipV="1">
            <a:off x="6289200" y="3450960"/>
            <a:ext cx="759240" cy="4406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2198520" y="4178160"/>
            <a:ext cx="2892600" cy="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4476960" y="3413880"/>
            <a:ext cx="614160" cy="5846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 flipH="1">
            <a:off x="2198520" y="3373920"/>
            <a:ext cx="761760" cy="7196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9" name="Title 5"/>
          <p:cNvSpPr txBox="1"/>
          <p:nvPr/>
        </p:nvSpPr>
        <p:spPr>
          <a:xfrm>
            <a:off x="2793240" y="240840"/>
            <a:ext cx="6107040" cy="1799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 fontScale="93333"/>
          </a:bodyPr>
          <a:p>
            <a:pPr algn="ctr">
              <a:lnSpc>
                <a:spcPct val="120000"/>
              </a:lnSpc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⚙️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controller.py AuthN/AuthZ mit Keycloak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sensor-net  &gt;  http_client.py  &gt;  Inline-Header → _build_headers()  ·  verify=False → CA_CERT_PATH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http_client.py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Imports: tensorflow entfernt, keycloak_auth + CA_CERT_PATH neu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import requests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4-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from tensorflow…tag_constants import TRAINING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6-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from config import BACKEND_URL, API_KEY, HTTP_TIMEOUT, log, TRAININGURL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Neue Funktion _build_headers()  —  zentraler Header mit API-Key + Bearer-Token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forward_to_backend() inline headers → _build_headers()  ·  verify=False → CA_CERT_PATH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18-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 = {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"Content-Type": "application/json", "x-api-key": API_KEY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26-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headers=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headers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28-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verify=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False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,  # Until nginx Certificate can be verified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58-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 = {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"Content-Type": "application/json", "x-api-key": API_KEY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66-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headers=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headers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68-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verify=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False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Imports: tensorflow entfernt, keycloak_auth + CA_CERT_PATH neu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import requests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from config import BACKEND_URL, API_KEY, HTTP_TIMEOUT,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CA_CERT_PATH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log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from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keycloak_auth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import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auth_header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def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_build_headers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-&gt; dict: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10+ 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    """Erstellt die HTTP-Header mit API-Key und Bearer-Token."""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Neue Funktion _build_headers()  —  zentraler Header mit API-Key + Bearer-Token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 = {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"Content-Type": "application/json",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"x-api-key": API_KEY,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headers.update(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auth_header()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return headers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forward_to_backend()  · inline headers → _build_headers()  ·  verify=False → CA_CERT_PATH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headers=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_build_headers()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34+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verify=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CA_CERT_PATH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headers=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_build_headers()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70+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verify=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CA_CERT_PATH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FooterBar"/>
          <p:cNvSpPr/>
          <p:nvPr/>
        </p:nvSpPr>
        <p:spPr>
          <a:xfrm>
            <a:off x="0" y="5231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Imports: tensorflow entfernt, keycloak_auth + CA_CERT_PATH neu  ·  _build_headers()  ·  verify=CA_CERT_PATH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  <a:ea typeface="Noto Sans CJK SC"/>
              </a:rPr>
              <a:t> 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Sensor-net  &gt; keycloak_auth.py &gt; Client-Credentials-Flow, Token-Cache, Rollenprüfung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[Teil 1/2]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ColHeader"/>
          <p:cNvSpPr/>
          <p:nvPr/>
        </p:nvSpPr>
        <p:spPr>
          <a:xfrm>
            <a:off x="748080" y="875880"/>
            <a:ext cx="747216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keycloak_auth.py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olHeader"/>
          <p:cNvSpPr/>
          <p:nvPr/>
        </p:nvSpPr>
        <p:spPr>
          <a:xfrm>
            <a:off x="769680" y="2079360"/>
            <a:ext cx="745848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odeBG"/>
          <p:cNvSpPr/>
          <p:nvPr/>
        </p:nvSpPr>
        <p:spPr>
          <a:xfrm>
            <a:off x="724320" y="1170000"/>
            <a:ext cx="7519680" cy="78624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i="1" lang="de-DE" sz="850" spc="-1" strike="noStrike">
                <a:solidFill>
                  <a:srgbClr val="0366d6"/>
                </a:solidFill>
                <a:latin typeface="Consolas"/>
              </a:rPr>
              <a:t>Komplett neue Datei — Keycloak Client-Credentials-Flow für den Controller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Token-Cache  —  Module-level globals für Access-Token und Ablaufzeit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request_token()  —  POST Client-Credentials → Keycloak, Access-Token cachen (−30s Puffer)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odeBG"/>
          <p:cNvSpPr/>
          <p:nvPr/>
        </p:nvSpPr>
        <p:spPr>
          <a:xfrm>
            <a:off x="748080" y="2349360"/>
            <a:ext cx="7495920" cy="22705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i="1" lang="de-DE" sz="850" spc="-1" strike="noStrike">
                <a:solidFill>
                  <a:srgbClr val="0366d6"/>
                </a:solidFill>
                <a:latin typeface="Consolas"/>
              </a:rPr>
              <a:t>Komplett neue Datei — Keycloak Client-Credentials-Flow für den Controller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1+ </a:t>
            </a:r>
            <a:r>
              <a:rPr b="0" lang="de-DE" sz="900" spc="-1" strike="noStrike">
                <a:solidFill>
                  <a:srgbClr val="24292e"/>
                </a:solidFill>
                <a:latin typeface="Consolas"/>
              </a:rPr>
              <a:t>"""Keycloak Client-Credentials-Flow: Token holen, cachen, Rolle prüfen."""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import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base64, json, time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import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requests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9+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from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config import KC_TOKEN_URL, KC_CLIENT_ID, KC_CLIENT_SECRET, KC_REQUIRED_ROLE, CA_CERT_PATH, …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14+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_cached_token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: str | None = None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15+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_token_expires_at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: float = 0.0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request_token()  —  POST Client-Credentials → Keycloak, Access-Token cachen (−30s Puffer)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def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request_token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-&gt; str: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28+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data = {"grant_type": "client_credentials", "client_id": KC_CLIENT_ID, …}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33+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resp = requests.post(KC_TOKEN_URL, data=data, timeout=HTTP_TIMEOUT, verify=CA_CERT_PATH)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_cached_token = body[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"access_token"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]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_token_expires_at = time.time() + body.get(</a:t>
            </a:r>
            <a:r>
              <a:rPr b="0" lang="de-DE" sz="900" spc="-1" strike="noStrike">
                <a:solidFill>
                  <a:srgbClr val="98c379"/>
                </a:solidFill>
                <a:latin typeface="Consolas"/>
              </a:rPr>
              <a:t>"expires_in"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300)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 - 30  # 30s Puffer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FooterBar"/>
          <p:cNvSpPr/>
          <p:nvPr/>
        </p:nvSpPr>
        <p:spPr>
          <a:xfrm>
            <a:off x="0" y="6707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Token-Cache  ·  request_token()  ·  get_token() / verify_role() / auth_header()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Bar 4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  <a:ea typeface="Noto Sans CJK SC"/>
              </a:rPr>
              <a:t> 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Sensor-net  &gt;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keycloak_auth.py &gt;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Client-Credentials-Flow,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Token-Cache,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Rollenprüfung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[Teil 2/2]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ColHeader 5"/>
          <p:cNvSpPr/>
          <p:nvPr/>
        </p:nvSpPr>
        <p:spPr>
          <a:xfrm>
            <a:off x="100080" y="443880"/>
            <a:ext cx="367020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keycloak_auth.py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olHeader 6"/>
          <p:cNvSpPr/>
          <p:nvPr/>
        </p:nvSpPr>
        <p:spPr>
          <a:xfrm>
            <a:off x="3944880" y="443880"/>
            <a:ext cx="509868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odeBG 5"/>
          <p:cNvSpPr/>
          <p:nvPr/>
        </p:nvSpPr>
        <p:spPr>
          <a:xfrm>
            <a:off x="100080" y="705960"/>
            <a:ext cx="36781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i="1" lang="de-DE" sz="850" spc="-1" strike="noStrike">
                <a:solidFill>
                  <a:srgbClr val="0366d6"/>
                </a:solidFill>
                <a:latin typeface="Consolas"/>
              </a:rPr>
              <a:t>Komplett neue Datei — Keycloak Client-Credentials-Flow für den </a:t>
            </a:r>
            <a:r>
              <a:rPr b="1" i="1" lang="de-DE" sz="850" spc="-1" strike="noStrike">
                <a:solidFill>
                  <a:srgbClr val="0366d6"/>
                </a:solidFill>
                <a:latin typeface="Consolas"/>
              </a:rPr>
              <a:t>Controller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get_token()  —  Cache-Check  ·  verify_role()  —  Rollenprüfung 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·  auth_header()  —  Bearer-Header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odeBG 6"/>
          <p:cNvSpPr/>
          <p:nvPr/>
        </p:nvSpPr>
        <p:spPr>
          <a:xfrm>
            <a:off x="3944880" y="705960"/>
            <a:ext cx="509868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get_token()  —  Cache-Check  ·  verify_role()  —  Rollenprüfung  ·  auth_header()  —  Bearer-Header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51+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def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get_token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-&gt; str:  # cached oder frisch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_cached_token and time.time() &lt; _token_expires_at: return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	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	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	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	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_cached_token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58+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def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verify_role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-&gt; None:  # RuntimeError wenn Rolle fehlt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roles = payload.get("realm_access", {}).get("roles", [])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66+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KC_REQUIRED_ROLE not in roles: raise RuntimeError(…)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76+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def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auth_header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() -&gt; dict:  # {"Authorization": "Bearer &lt;token&gt;"}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LeftCode 3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ightCode 3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FooterBar 3"/>
          <p:cNvSpPr/>
          <p:nvPr/>
        </p:nvSpPr>
        <p:spPr>
          <a:xfrm>
            <a:off x="0" y="523944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Token-Cache  · 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request_token()  · 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get_token() / verify_role() / </a:t>
            </a: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auth_header()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leBar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Sensor-net &gt; controller.py  &gt;  Keycloak-Integration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ColHeader"/>
          <p:cNvSpPr/>
          <p:nvPr/>
        </p:nvSpPr>
        <p:spPr>
          <a:xfrm>
            <a:off x="100080" y="443880"/>
            <a:ext cx="4421520" cy="179640"/>
          </a:xfrm>
          <a:prstGeom prst="rect">
            <a:avLst/>
          </a:prstGeom>
          <a:solidFill>
            <a:srgbClr val="ffee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controller.py  (before)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olHeader"/>
          <p:cNvSpPr/>
          <p:nvPr/>
        </p:nvSpPr>
        <p:spPr>
          <a:xfrm>
            <a:off x="4622040" y="443880"/>
            <a:ext cx="4421520" cy="179640"/>
          </a:xfrm>
          <a:prstGeom prst="rect">
            <a:avLst/>
          </a:prstGeom>
          <a:solidFill>
            <a:srgbClr val="e6ff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b="1" lang="de-DE" sz="900" spc="-1" strike="noStrike">
                <a:solidFill>
                  <a:srgbClr val="24292e"/>
                </a:solidFill>
                <a:latin typeface="Calibri"/>
              </a:rPr>
              <a:t>after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odeBG"/>
          <p:cNvSpPr/>
          <p:nvPr/>
        </p:nvSpPr>
        <p:spPr>
          <a:xfrm>
            <a:off x="10008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Import: CA_CERT_PATH + verify_role / auth_header aus keycloak_auth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21-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MQTT_KEEPALIVE, API_KEY, BACKEND_URL, HTTP_TIMEOUT, log,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warmstart()  —  auth_header() zu bestehenden Headers hinzufügen  ·  verify=CA_CERT_PATH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35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 = {"Content-Type": "application/json", "x-api-key": API_KEY}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b31d28"/>
                </a:solidFill>
                <a:latin typeface="Consolas"/>
              </a:rPr>
              <a:t>41-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url, headers=headers, timeout=HTTP_TIMEOUT, verify=</a:t>
            </a:r>
            <a:r>
              <a:rPr b="0" lang="de-DE" sz="900" spc="-1" strike="noStrike">
                <a:solidFill>
                  <a:srgbClr val="cc0000"/>
                </a:solidFill>
                <a:latin typeface="Consolas"/>
              </a:rPr>
              <a:t>False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main()  —  Keycloak AuthN/AuthZ: verify_role() vor warmstart()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75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not os.path.isfile(os.getenv("MQTT_CA_FILE", "")): …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odeBG"/>
          <p:cNvSpPr/>
          <p:nvPr/>
        </p:nvSpPr>
        <p:spPr>
          <a:xfrm>
            <a:off x="4622040" y="705960"/>
            <a:ext cx="4421520" cy="4437720"/>
          </a:xfrm>
          <a:prstGeom prst="rect">
            <a:avLst/>
          </a:prstGeom>
          <a:solidFill>
            <a:srgbClr val="fafafa"/>
          </a:solidFill>
          <a:ln w="9144">
            <a:solidFill>
              <a:srgbClr val="dd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①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Import: CA_CERT_PATH + verify_role / auth_header aus keycloak_auth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21+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MQTT_KEEPALIVE, API_KEY, BACKEND_URL, HTTP_TIMEOUT,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CA_CERT_PATH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log,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24+ 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from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keycloak_auth</a:t>
            </a:r>
            <a:r>
              <a:rPr b="0" lang="de-DE" sz="900" spc="-1" strike="noStrike">
                <a:solidFill>
                  <a:srgbClr val="c678dd"/>
                </a:solidFill>
                <a:latin typeface="Consolas"/>
              </a:rPr>
              <a:t> import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verify_role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,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auth_header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② </a:t>
            </a: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warmstart()  —  auth_header() zu bestehenden Headers hinzufügen  ·  verify=CA_CERT_PATH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38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headers = {"Content-Type": "application/json", "x-api-key": API_KEY}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44+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url, headers=headers, timeout=HTTP_TIMEOUT, verify=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CA_CERT_PATH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i="1" lang="de-DE" sz="850" spc="-1" strike="noStrike">
                <a:solidFill>
                  <a:srgbClr val="3465a4"/>
                </a:solidFill>
                <a:latin typeface="Consolas"/>
              </a:rPr>
              <a:t>③ </a:t>
            </a:r>
            <a:r>
              <a:rPr b="1" i="1" lang="de-DE" sz="850" spc="-1" strike="noStrike">
                <a:solidFill>
                  <a:srgbClr val="3465a4"/>
                </a:solidFill>
                <a:latin typeface="Consolas"/>
              </a:rPr>
              <a:t>main()  —  Keycloak AuthN/AuthZ: verify_role() vor warmstart()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de-DE" sz="850" spc="-1" strike="noStrike">
                <a:solidFill>
                  <a:srgbClr val="3465a4"/>
                </a:solidFill>
                <a:latin typeface="Consolas"/>
              </a:rPr>
              <a:t>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888888"/>
                </a:solidFill>
                <a:latin typeface="Consolas"/>
              </a:rPr>
              <a:t>78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if not os.path.isfile(os.getenv("MQTT_CA_FILE", "")): …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81+ </a:t>
            </a:r>
            <a:r>
              <a:rPr b="0" lang="de-DE" sz="900" spc="-1" strike="noStrike">
                <a:solidFill>
                  <a:srgbClr val="5c6370"/>
                </a:solidFill>
                <a:latin typeface="Consolas"/>
              </a:rPr>
              <a:t>    # Keycloak AuthN/AuthZ: Token holen und Rolle prüfen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82+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try: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83+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</a:t>
            </a:r>
            <a:r>
              <a:rPr b="0" lang="de-DE" sz="900" spc="-1" strike="noStrike">
                <a:solidFill>
                  <a:srgbClr val="006400"/>
                </a:solidFill>
                <a:latin typeface="Consolas"/>
              </a:rPr>
              <a:t>verify_role()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84+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except Exception as exc: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85+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log.error("Keycloak-Authentifizierung fehlgeschlagen: %s", exc)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  </a:t>
            </a:r>
            <a:r>
              <a:rPr b="0" lang="de-DE" sz="850" spc="-1" strike="noStrike">
                <a:solidFill>
                  <a:srgbClr val="28a745"/>
                </a:solidFill>
                <a:latin typeface="Consolas"/>
              </a:rPr>
              <a:t>86+ </a:t>
            </a:r>
            <a:r>
              <a:rPr b="0" lang="de-DE" sz="900" spc="-1" strike="noStrike">
                <a:solidFill>
                  <a:srgbClr val="383a42"/>
                </a:solidFill>
                <a:latin typeface="Consolas"/>
              </a:rPr>
              <a:t>        sys.exit(1)</a:t>
            </a:r>
            <a:endParaRPr b="0" lang="de-DE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LeftCode"/>
          <p:cNvSpPr/>
          <p:nvPr/>
        </p:nvSpPr>
        <p:spPr>
          <a:xfrm>
            <a:off x="19152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ightCode"/>
          <p:cNvSpPr/>
          <p:nvPr/>
        </p:nvSpPr>
        <p:spPr>
          <a:xfrm>
            <a:off x="4713480" y="941400"/>
            <a:ext cx="4238640" cy="56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FooterBar"/>
          <p:cNvSpPr/>
          <p:nvPr/>
        </p:nvSpPr>
        <p:spPr>
          <a:xfrm>
            <a:off x="0" y="7571880"/>
            <a:ext cx="9143640" cy="129600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850" spc="-1" strike="noStrike">
                <a:solidFill>
                  <a:srgbClr val="586069"/>
                </a:solidFill>
                <a:latin typeface="Calibri"/>
              </a:rPr>
              <a:t>verify_role() vor warmstart()  ·  CA_CERT_PATH + KC_* Variablen  ·  Dockerfile ENV-Defaults</a:t>
            </a:r>
            <a:endParaRPr b="0" lang="de-DE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70;p 2"/>
          <p:cNvSpPr/>
          <p:nvPr/>
        </p:nvSpPr>
        <p:spPr>
          <a:xfrm>
            <a:off x="564120" y="414720"/>
            <a:ext cx="4998240" cy="132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Client (Produktion Netz)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72;p 2"/>
          <p:cNvSpPr/>
          <p:nvPr/>
        </p:nvSpPr>
        <p:spPr>
          <a:xfrm>
            <a:off x="3652560" y="1023840"/>
            <a:ext cx="123372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Webbrowser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(index.html)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76;p 2"/>
          <p:cNvSpPr/>
          <p:nvPr/>
        </p:nvSpPr>
        <p:spPr>
          <a:xfrm>
            <a:off x="761040" y="1002960"/>
            <a:ext cx="1233720" cy="47916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frontend.js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(chart.js)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78;p 2"/>
          <p:cNvSpPr/>
          <p:nvPr/>
        </p:nvSpPr>
        <p:spPr>
          <a:xfrm>
            <a:off x="456480" y="2815920"/>
            <a:ext cx="7499160" cy="192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  <a:ea typeface="Calibri"/>
              </a:rPr>
              <a:t>Backend Server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79;p 2"/>
          <p:cNvSpPr/>
          <p:nvPr/>
        </p:nvSpPr>
        <p:spPr>
          <a:xfrm>
            <a:off x="4057200" y="308520"/>
            <a:ext cx="274248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" name="Google Shape;80;p 2"/>
          <p:cNvSpPr/>
          <p:nvPr/>
        </p:nvSpPr>
        <p:spPr>
          <a:xfrm>
            <a:off x="546480" y="4018680"/>
            <a:ext cx="149544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nginx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(Reverse Proxy)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82;p 2"/>
          <p:cNvSpPr/>
          <p:nvPr/>
        </p:nvSpPr>
        <p:spPr>
          <a:xfrm>
            <a:off x="4502520" y="373320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server.js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(node.js)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83;p 2"/>
          <p:cNvSpPr/>
          <p:nvPr/>
        </p:nvSpPr>
        <p:spPr>
          <a:xfrm>
            <a:off x="5086080" y="1396080"/>
            <a:ext cx="123372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" name="Google Shape;84;p 2"/>
          <p:cNvSpPr/>
          <p:nvPr/>
        </p:nvSpPr>
        <p:spPr>
          <a:xfrm>
            <a:off x="2356200" y="3108600"/>
            <a:ext cx="143208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keyCloak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(AuthN/AuthZ))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85;p 2"/>
          <p:cNvSpPr/>
          <p:nvPr/>
        </p:nvSpPr>
        <p:spPr>
          <a:xfrm>
            <a:off x="7269480" y="3628800"/>
            <a:ext cx="123372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" name="Google Shape;86;p 2"/>
          <p:cNvSpPr/>
          <p:nvPr/>
        </p:nvSpPr>
        <p:spPr>
          <a:xfrm>
            <a:off x="6495840" y="3210120"/>
            <a:ext cx="1233720" cy="513720"/>
          </a:xfrm>
          <a:prstGeom prst="rect">
            <a:avLst/>
          </a:prstGeom>
          <a:solidFill>
            <a:srgbClr val="f4f6f8"/>
          </a:solidFill>
          <a:ln w="12600">
            <a:solidFill>
              <a:srgbClr val="2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MariaDB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11111"/>
                </a:solidFill>
                <a:latin typeface="Calibri"/>
                <a:ea typeface="Calibri"/>
              </a:rPr>
              <a:t>(Database)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90;p 2"/>
          <p:cNvSpPr/>
          <p:nvPr/>
        </p:nvSpPr>
        <p:spPr>
          <a:xfrm>
            <a:off x="2828520" y="4309200"/>
            <a:ext cx="11152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HTTPS:3443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91;p 2"/>
          <p:cNvSpPr/>
          <p:nvPr/>
        </p:nvSpPr>
        <p:spPr>
          <a:xfrm>
            <a:off x="1614960" y="3199680"/>
            <a:ext cx="685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93;p 2"/>
          <p:cNvSpPr/>
          <p:nvPr/>
        </p:nvSpPr>
        <p:spPr>
          <a:xfrm>
            <a:off x="4196520" y="3283200"/>
            <a:ext cx="105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HTTPS:8443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AuthZ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96;p 2"/>
          <p:cNvSpPr/>
          <p:nvPr/>
        </p:nvSpPr>
        <p:spPr>
          <a:xfrm>
            <a:off x="6240960" y="3938760"/>
            <a:ext cx="1028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SQL &amp; TLS :3306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97;p 2"/>
          <p:cNvSpPr/>
          <p:nvPr/>
        </p:nvSpPr>
        <p:spPr>
          <a:xfrm>
            <a:off x="1371600" y="2132280"/>
            <a:ext cx="2377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HTTPS:443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  <a:ea typeface="Calibri"/>
              </a:rPr>
              <a:t>(AuthN, AuthZ, RESTful API)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 flipH="1">
            <a:off x="1276560" y="1482120"/>
            <a:ext cx="42480" cy="25365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" name=""/>
          <p:cNvSpPr/>
          <p:nvPr/>
        </p:nvSpPr>
        <p:spPr>
          <a:xfrm flipV="1">
            <a:off x="5736600" y="3498120"/>
            <a:ext cx="759240" cy="4406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0" name=""/>
          <p:cNvSpPr/>
          <p:nvPr/>
        </p:nvSpPr>
        <p:spPr>
          <a:xfrm flipV="1">
            <a:off x="2041920" y="4010040"/>
            <a:ext cx="2460600" cy="1998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3788640" y="3355200"/>
            <a:ext cx="713880" cy="37800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" name=""/>
          <p:cNvSpPr/>
          <p:nvPr/>
        </p:nvSpPr>
        <p:spPr>
          <a:xfrm flipH="1">
            <a:off x="1774080" y="3336120"/>
            <a:ext cx="645480" cy="6825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" name=""/>
          <p:cNvSpPr/>
          <p:nvPr/>
        </p:nvSpPr>
        <p:spPr>
          <a:xfrm flipH="1">
            <a:off x="1995120" y="1244520"/>
            <a:ext cx="1657440" cy="1224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2760" bIns="-327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" name="Title 3"/>
          <p:cNvSpPr txBox="1"/>
          <p:nvPr/>
        </p:nvSpPr>
        <p:spPr>
          <a:xfrm>
            <a:off x="5272920" y="414720"/>
            <a:ext cx="4104360" cy="1799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p>
            <a:pPr algn="ctr">
              <a:lnSpc>
                <a:spcPct val="120000"/>
              </a:lnSpc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🖥️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Web-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Dashb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oard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927000" y="360"/>
            <a:ext cx="56912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462600" y="352440"/>
            <a:ext cx="8254800" cy="434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1334520" y="461520"/>
            <a:ext cx="5983560" cy="4682160"/>
          </a:xfrm>
          <a:prstGeom prst="rect">
            <a:avLst/>
          </a:prstGeom>
          <a:ln w="0">
            <a:noFill/>
          </a:ln>
        </p:spPr>
      </p:pic>
      <p:sp>
        <p:nvSpPr>
          <p:cNvPr id="248" name="TitleBar 1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webapp &gt; frontend.js 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[Teil 1/2 ]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2253960" y="148320"/>
            <a:ext cx="4619520" cy="489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1368000" y="663480"/>
            <a:ext cx="6505200" cy="3838320"/>
          </a:xfrm>
          <a:prstGeom prst="rect">
            <a:avLst/>
          </a:prstGeom>
          <a:ln w="0">
            <a:noFill/>
          </a:ln>
        </p:spPr>
      </p:pic>
      <p:sp>
        <p:nvSpPr>
          <p:cNvPr id="251" name="TitleBar 2"/>
          <p:cNvSpPr/>
          <p:nvPr/>
        </p:nvSpPr>
        <p:spPr>
          <a:xfrm>
            <a:off x="0" y="0"/>
            <a:ext cx="9143640" cy="439560"/>
          </a:xfrm>
          <a:prstGeom prst="rect">
            <a:avLst/>
          </a:prstGeom>
          <a:solidFill>
            <a:srgbClr val="242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webapp &gt; chart.js  [Teil </a:t>
            </a:r>
            <a:r>
              <a:rPr b="1" lang="de-DE" sz="1400" spc="-1" strike="noStrike">
                <a:solidFill>
                  <a:srgbClr val="ffffff"/>
                </a:solidFill>
                <a:latin typeface="Calibri"/>
              </a:rPr>
              <a:t>1/3 ]</a:t>
            </a:r>
            <a:endParaRPr b="0" lang="de-DE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770760" y="360"/>
            <a:ext cx="740880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157680" y="465840"/>
            <a:ext cx="9143640" cy="433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1371960" y="747720"/>
            <a:ext cx="6667200" cy="357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1199880"/>
            <a:ext cx="8229240" cy="17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20000"/>
              </a:lnSpc>
              <a:buNone/>
            </a:pP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🏁 </a:t>
            </a:r>
            <a:r>
              <a:rPr b="1" lang="de-DE" sz="4000" spc="-1" strike="noStrike">
                <a:solidFill>
                  <a:srgbClr val="000000"/>
                </a:solidFill>
                <a:latin typeface="Arial"/>
              </a:rPr>
              <a:t>Fazit</a:t>
            </a:r>
            <a:endParaRPr b="0" lang="de-DE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3099960"/>
            <a:ext cx="8229240" cy="13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40000"/>
              </a:lnSpc>
              <a:spcBef>
                <a:spcPts val="601"/>
              </a:spcBef>
              <a:buNone/>
            </a:pPr>
            <a:r>
              <a:rPr b="0" lang="de-DE" sz="1600" spc="-1" strike="noStrike">
                <a:solidFill>
                  <a:srgbClr val="222222"/>
                </a:solidFill>
                <a:latin typeface="Arial"/>
              </a:rPr>
              <a:t>Verschlüsselung zu MQTT: funktioniert ✓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40000"/>
              </a:lnSpc>
              <a:spcBef>
                <a:spcPts val="601"/>
              </a:spcBef>
              <a:buNone/>
            </a:pPr>
            <a:r>
              <a:rPr b="0" lang="de-DE" sz="1600" spc="-1" strike="noStrike">
                <a:solidFill>
                  <a:srgbClr val="222222"/>
                </a:solidFill>
                <a:latin typeface="Arial"/>
              </a:rPr>
              <a:t>Reverse Proxy (nginx): HTTPS → HTTP — Problem mit Zertifikaten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40000"/>
              </a:lnSpc>
              <a:spcBef>
                <a:spcPts val="601"/>
              </a:spcBef>
              <a:buNone/>
            </a:pPr>
            <a:r>
              <a:rPr b="0" lang="de-DE" sz="1600" spc="-1" strike="noStrike">
                <a:solidFill>
                  <a:srgbClr val="222222"/>
                </a:solidFill>
                <a:latin typeface="Arial"/>
                <a:ea typeface="Noto Sans CJK SC"/>
              </a:rPr>
              <a:t>Routing und Keycloak Authentifikation </a:t>
            </a:r>
            <a:r>
              <a:rPr b="0" lang="de-DE" sz="1600" spc="-1" strike="noStrike">
                <a:solidFill>
                  <a:srgbClr val="222222"/>
                </a:solidFill>
                <a:latin typeface="Arial"/>
              </a:rPr>
              <a:t>→ Problem im Browser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2026-05-27T23:23:01Z</cp:lastPrinted>
  <dcterms:modified xsi:type="dcterms:W3CDTF">2026-05-27T23:21:15Z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