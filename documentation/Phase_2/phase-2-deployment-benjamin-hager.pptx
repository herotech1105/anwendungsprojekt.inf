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1D0453-CFAC-49B2-8868-09BE78668EE3}">
  <a:tblStyle styleId="{E61D0453-CFAC-49B2-8868-09BE78668E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9c4bab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99c4bab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9c4babb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99c4babb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ee141b6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9ee141b6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f1dcdb3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f1dcdb3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99c4bab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99c4bab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f1dcdb3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f1dcdb3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99c4babb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99c4babb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9f1dcdb3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9f1dcdb3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99c4babb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99c4babb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a9d7aecf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a9d7aecf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a9d7aecf2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a9d7aecf2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9d7aecf2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9d7aecf2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draw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Phase 2: Deployment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40751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Barnabas Steiner - Benjamin Hager - Jannis Weber - Lennart Esch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Tim Dorozynski - Walter Neer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649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Gliederung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Projektplan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Deployment-Diagramm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Bewertung der Architekur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AP-Konfiguration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Konfiguration der Firewall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Integration Microcontroller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Ergebnisstand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de"/>
              <a:t>Verwendete Hilfsmittel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670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Projektplan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25" y="1486475"/>
            <a:ext cx="8690749" cy="267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89125" y="583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Deployment Diagramm</a:t>
            </a:r>
            <a:endParaRPr/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3900" y="1396650"/>
            <a:ext cx="6099989" cy="360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" name="Google Shape;110;p17"/>
          <p:cNvGraphicFramePr/>
          <p:nvPr/>
        </p:nvGraphicFramePr>
        <p:xfrm>
          <a:off x="182350" y="8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{E61D0453-CFAC-49B2-8868-09BE78668EE3}</a:tableStyleId>
              </a:tblPr>
              <a:tblGrid>
                <a:gridCol w="2926425"/>
                <a:gridCol w="2926425"/>
                <a:gridCol w="2926425"/>
              </a:tblGrid>
              <a:tr h="360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de" sz="800"/>
                        <a:t>Sicherheitsprinzip-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de" sz="800"/>
                        <a:t>Bewertung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b="1" lang="de" sz="800"/>
                        <a:t>Nötige Ergänzungen</a:t>
                      </a:r>
                      <a:endParaRPr b="1"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22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800"/>
                        <a:t>Security-By-Design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Klare Trennung von Router, Backend und IoT-Netzwerk</a:t>
                      </a:r>
                      <a:endParaRPr sz="800"/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Kommunikationskanäle ersichtlich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09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800"/>
                        <a:t>Least Common Mechanism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Produktion hat eigenes Netzwerk</a:t>
                      </a:r>
                      <a:endParaRPr sz="800"/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Dockerbridges zur Kommunikationsminimierung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Darstellen von Nachrichtenqueues für Sensoren und Aktoren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800"/>
                        <a:t>Complete Mediation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Gatekeeping durch nftables und iptables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JWT-Token für Webnutzung hinzufügen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800"/>
                        <a:t>Least Privilege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Trenunng des Backends in app-net un sensor-net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Hinzufügen von Benutzerrollen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800"/>
                        <a:t>Fail-Secure Defaults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Absturz networkmanager -&gt; sicherer Abbruch der Verbindung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Ip-Forwarding deaktiviert, wenn Firewall nicht startet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1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800"/>
                        <a:t>Defence in Depth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nftables am Router</a:t>
                      </a:r>
                      <a:endParaRPr sz="800"/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WPA2-Veschlüsselung</a:t>
                      </a:r>
                      <a:endParaRPr sz="800"/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iptables auf Backend-Pi</a:t>
                      </a:r>
                      <a:endParaRPr sz="800"/>
                    </a:p>
                    <a:p>
                      <a:pPr indent="-2794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800"/>
                        <a:buChar char="●"/>
                      </a:pPr>
                      <a:r>
                        <a:rPr lang="de" sz="800"/>
                        <a:t>Isolierung durch Docker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568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AP-Konfiguration</a:t>
            </a:r>
            <a:endParaRPr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3050" y="1425500"/>
            <a:ext cx="6001500" cy="3407100"/>
          </a:xfrm>
          <a:prstGeom prst="roundRect">
            <a:avLst>
              <a:gd fmla="val 7674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9450" y="568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AP-Konfiguration - hotsapd, dnsmasq, IP-forwarding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00" y="1579850"/>
            <a:ext cx="2794500" cy="3269400"/>
          </a:xfrm>
          <a:prstGeom prst="roundRect">
            <a:avLst>
              <a:gd fmla="val 6821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4150" y="1579851"/>
            <a:ext cx="4884000" cy="1589400"/>
          </a:xfrm>
          <a:prstGeom prst="roundRect">
            <a:avLst>
              <a:gd fmla="val 8948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24" name="Google Shape;12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150" y="3367382"/>
            <a:ext cx="4884000" cy="1279200"/>
          </a:xfrm>
          <a:prstGeom prst="roundRect">
            <a:avLst>
              <a:gd fmla="val 9524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29450" y="649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Konfiguration der Firewall - Filter-Tabelle</a:t>
            </a:r>
            <a:endParaRPr/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250" y="1576675"/>
            <a:ext cx="5867100" cy="2938500"/>
          </a:xfrm>
          <a:prstGeom prst="roundRect">
            <a:avLst>
              <a:gd fmla="val 1040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729450" y="649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Konfiguration der Firewall - NAT-Tabelle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900" y="1513075"/>
            <a:ext cx="5651700" cy="3009300"/>
          </a:xfrm>
          <a:prstGeom prst="roundRect">
            <a:avLst>
              <a:gd fmla="val 10204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568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Integration Microcontroller - WLAN</a:t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400" y="1559400"/>
            <a:ext cx="4577700" cy="2968800"/>
          </a:xfrm>
          <a:prstGeom prst="roundRect">
            <a:avLst>
              <a:gd fmla="val 4696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3" name="Google Shape;143;p22"/>
          <p:cNvSpPr txBox="1"/>
          <p:nvPr/>
        </p:nvSpPr>
        <p:spPr>
          <a:xfrm>
            <a:off x="5371700" y="1559400"/>
            <a:ext cx="3046500" cy="28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SSID: 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“Production”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PASSWORD: 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“Production-01”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Anmeldung ins WLAN als Client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Verbindung in Schleife abwarten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729450" y="568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Integration Microcontroller - Temperaturabfrage</a:t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1050" y="1559404"/>
            <a:ext cx="5297100" cy="2968800"/>
          </a:xfrm>
          <a:prstGeom prst="roundRect">
            <a:avLst>
              <a:gd fmla="val 5813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50" name="Google Shape;150;p23"/>
          <p:cNvSpPr txBox="1"/>
          <p:nvPr/>
        </p:nvSpPr>
        <p:spPr>
          <a:xfrm>
            <a:off x="287950" y="1559400"/>
            <a:ext cx="2619900" cy="29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Abfrage Open-Meteo API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Extraktion der Temperatur aus JSON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Blinkrate durch Temperatur bestimmen: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b="1"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temp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&lt; 10 ⇒</a:t>
            </a:r>
            <a:r>
              <a:rPr b="1"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2.0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b="1"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temp 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&lt;= 25 ⇒ 1.0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b="1"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else </a:t>
            </a:r>
            <a:r>
              <a:rPr lang="de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⇒ 0.3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729450" y="672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Ergebnisstand</a:t>
            </a:r>
            <a:endParaRPr/>
          </a:p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729450" y="1556350"/>
            <a:ext cx="7688700" cy="27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de" sz="1500"/>
              <a:t>Deploymentdiagramm für klare Übersicht der Architektur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de" sz="1500"/>
              <a:t>Produktionsnetzwerk ist funktionfähi</a:t>
            </a:r>
            <a:r>
              <a:rPr lang="de" sz="1500"/>
              <a:t>g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 sz="1300"/>
              <a:t>Access-Point mit routing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 sz="1300"/>
              <a:t>Integration von Backend und IoT durch WLAN-Clients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de" sz="1300"/>
              <a:t>Firewall reguliert Zugriffsberechtigungen</a:t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 txBox="1"/>
          <p:nvPr>
            <p:ph type="title"/>
          </p:nvPr>
        </p:nvSpPr>
        <p:spPr>
          <a:xfrm>
            <a:off x="729450" y="708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Verwendete Hilfsmittel</a:t>
            </a:r>
            <a:endParaRPr/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72945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monday work management: </a:t>
            </a:r>
            <a:r>
              <a:rPr lang="de"/>
              <a:t>Erstellung des Projektplanes und Aufgabenzuteilung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>
                <a:solidFill>
                  <a:schemeClr val="hlink"/>
                </a:solidFill>
                <a:uFill>
                  <a:noFill/>
                </a:uFill>
                <a:hlinkClick r:id="rId3"/>
              </a:rPr>
              <a:t>draw.io</a:t>
            </a:r>
            <a:r>
              <a:rPr b="1" lang="de"/>
              <a:t>: </a:t>
            </a:r>
            <a:r>
              <a:rPr lang="de"/>
              <a:t>Erstellung des Deploymentdiagramms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/>
              <a:t>github</a:t>
            </a:r>
            <a:r>
              <a:rPr b="1" lang="de"/>
              <a:t>: </a:t>
            </a:r>
            <a:r>
              <a:rPr lang="de"/>
              <a:t>Austausch und Versionierung von Daten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